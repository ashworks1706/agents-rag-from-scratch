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90 minutes we build a Retrieval-Augmented Generation assistant end to end and deploy it to a public URL. No prior RAG experience needed. We build in Colab, deploy from GitHub. Have the Colab open and run the install cell now so it's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finished product. Notice three things beyond the answer: it cites its sources, it shows a similarity score per chunk, and it reports latency. That observability is the whole point — RAG should be inspectable, not magic. Demo the live app here for a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knowledge-gap problem. An LLM is frozen at training time and never saw your handbook, syllabus, or wiki. Ask it a specific question and it produces a fluent guess. RAG fixes this by retrieving the relevant text first and putting it in front of the model, so the answer is grounded and citable.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entire mental model. Five stages, left to right. Load the document, chunk it, embed the chunks, retrieve the most similar ones for a question, and generate an answer from them. We build each box in Colab in that order. Keep coming back to this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tools, chosen so nothing is hidden. We write cosine similarity ourselves in NumPy rather than call a vector database, because at this scale you don't need one and seeing the math matters. Gemini is free-tier, bring your own key. Everything deploys free on Streamlit Community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We bookend with slides and spend the middle in Colab, then a short browser session to deploy. There is a real catch-up buffer at 58 minutes — if you fall behind, jump to that step in the notebook rather than losing the rest. Deployment is protected; we will not cut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We can't embed a whole document as one vector — retrieval would be useless. So we cut it into fixed-size pieces with a little overlap. The overlap matters: without it, a fact sitting on a boundary gets cut in half and neither chunk retrieves well. 500 chars with 100 overlap is a fine starting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Embeddings turn text into vectors where distance means similarity of meaning. To compare, we use cosine similarity — the angle between vectors. The trick: if we normalize every vector to length one, cosine similarity is just the dot product, and scoring all chunks is a single matrix multiply. That's the entire retrieval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steps that make the answer trustworthy. First retrieve the top three chunks. Then build a prompt that contains only those chunks and instruct the model to answer solely from them and to admit when the answer isn't there. That instruction is what prevents hallucination and lets us show sources — the answer is tied to specific retrieved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separates a toy from something you can debug. When an answer is wrong, the panel tells you whether retrieval pulled the wrong chunks (a chunking or embedding problem) or the model ignored good context (a prompt problem). Latency tells you where time goes. We wire this into the Streamlit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is all clicking. Use the repo as a template to get your own copy, connect it on Streamlit Community Cloud, point it at workshop/app.py, and add your Gemini key as a secret. The first build takes a few minutes because it installs PyTorch and downloads the embedding model — that's expected, not a hang. Then you have a public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you'd add for production lives in the deep-dive notebook right below the workshop section: hybrid retrieval, re-ranking, real vector databases, evaluation metrics, guardrails, and agentic patterns. The workshop gives you the backbone; these are the upgrades. Start with evaluation — you can't improve what you don't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what they accomplished, then open Q&amp;A. Point them at the repo for both the workshop files and the deep dive, and remind them the Gemini key is free. Encourage them to swap in their own document tonight — that's the moment RAG clicks.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3"/>
        </a:solidFill>
      </p:bgPr>
    </p:bg>
    <p:spTree>
      <p:nvGrpSpPr>
        <p:cNvPr id="1" name=""/>
        <p:cNvGrpSpPr/>
        <p:nvPr/>
      </p:nvGrpSpPr>
      <p:grpSpPr>
        <a:xfrm>
          <a:off x="0" y="0"/>
          <a:ext cx="0" cy="0"/>
          <a:chOff x="0" y="0"/>
          <a:chExt cx="0" cy="0"/>
        </a:xfrm>
      </p:grpSpPr>
      <p:sp>
        <p:nvSpPr>
          <p:cNvPr id="2" name="Shape 0"/>
          <p:cNvSpPr/>
          <p:nvPr/>
        </p:nvSpPr>
        <p:spPr>
          <a:xfrm>
            <a:off x="9784080" y="-1463040"/>
            <a:ext cx="3840480" cy="3840480"/>
          </a:xfrm>
          <a:prstGeom prst="ellipse">
            <a:avLst/>
          </a:prstGeom>
          <a:solidFill>
            <a:srgbClr val="028090"/>
          </a:solidFill>
          <a:ln/>
        </p:spPr>
      </p:sp>
      <p:sp>
        <p:nvSpPr>
          <p:cNvPr id="3" name="Shape 1"/>
          <p:cNvSpPr/>
          <p:nvPr/>
        </p:nvSpPr>
        <p:spPr>
          <a:xfrm>
            <a:off x="10698480" y="4206240"/>
            <a:ext cx="3108960" cy="3108960"/>
          </a:xfrm>
          <a:prstGeom prst="ellipse">
            <a:avLst/>
          </a:prstGeom>
          <a:solidFill>
            <a:srgbClr val="02C39A"/>
          </a:solidFill>
          <a:ln/>
        </p:spPr>
      </p:sp>
      <p:sp>
        <p:nvSpPr>
          <p:cNvPr id="4" name="Text 2"/>
          <p:cNvSpPr txBox="1"/>
          <p:nvPr/>
        </p:nvSpPr>
        <p:spPr>
          <a:xfrm>
            <a:off x="822960" y="1371600"/>
            <a:ext cx="7315200" cy="365760"/>
          </a:xfrm>
          <a:prstGeom prst="rect">
            <a:avLst/>
          </a:prstGeom>
          <a:noFill/>
          <a:ln/>
        </p:spPr>
        <p:txBody>
          <a:bodyPr wrap="square" rtlCol="0" anchor="ctr"/>
          <a:lstStyle/>
          <a:p>
            <a:pPr indent="0" marL="0">
              <a:buNone/>
            </a:pPr>
            <a:r>
              <a:rPr lang="en-US" sz="1400" b="1" spc="300" kern="0" dirty="0">
                <a:solidFill>
                  <a:srgbClr val="02C39A"/>
                </a:solidFill>
                <a:latin typeface="Calibri" pitchFamily="34" charset="0"/>
                <a:ea typeface="Calibri" pitchFamily="34" charset="-122"/>
                <a:cs typeface="Calibri" pitchFamily="34" charset="-120"/>
              </a:rPr>
              <a:t>WORKSHOP · 90 MINUTES</a:t>
            </a:r>
            <a:endParaRPr lang="en-US" sz="1400" dirty="0"/>
          </a:p>
        </p:txBody>
      </p:sp>
      <p:sp>
        <p:nvSpPr>
          <p:cNvPr id="5" name="Text 3"/>
          <p:cNvSpPr txBox="1"/>
          <p:nvPr/>
        </p:nvSpPr>
        <p:spPr>
          <a:xfrm>
            <a:off x="777240" y="1828800"/>
            <a:ext cx="10058400" cy="1371600"/>
          </a:xfrm>
          <a:prstGeom prst="rect">
            <a:avLst/>
          </a:prstGeom>
          <a:noFill/>
          <a:ln/>
        </p:spPr>
        <p:txBody>
          <a:bodyPr wrap="square"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Modern RAG in Practice</a:t>
            </a:r>
            <a:endParaRPr lang="en-US" sz="5200" dirty="0"/>
          </a:p>
        </p:txBody>
      </p:sp>
      <p:sp>
        <p:nvSpPr>
          <p:cNvPr id="6" name="Text 4"/>
          <p:cNvSpPr txBox="1"/>
          <p:nvPr/>
        </p:nvSpPr>
        <p:spPr>
          <a:xfrm>
            <a:off x="822960" y="3200400"/>
            <a:ext cx="9601200" cy="640080"/>
          </a:xfrm>
          <a:prstGeom prst="rect">
            <a:avLst/>
          </a:prstGeom>
          <a:noFill/>
          <a:ln/>
        </p:spPr>
        <p:txBody>
          <a:bodyPr wrap="square" rtlCol="0" anchor="ctr"/>
          <a:lstStyle/>
          <a:p>
            <a:pPr indent="0" marL="0">
              <a:buNone/>
            </a:pPr>
            <a:r>
              <a:rPr lang="en-US" sz="2000" dirty="0">
                <a:solidFill>
                  <a:srgbClr val="CFE6E6"/>
                </a:solidFill>
                <a:latin typeface="Calibri" pitchFamily="34" charset="0"/>
                <a:ea typeface="Calibri" pitchFamily="34" charset="-122"/>
                <a:cs typeface="Calibri" pitchFamily="34" charset="-120"/>
              </a:rPr>
              <a:t>Build a grounded AI assistant — from first principles to a live deployment.</a:t>
            </a:r>
            <a:endParaRPr lang="en-US" sz="2000" dirty="0"/>
          </a:p>
        </p:txBody>
      </p:sp>
      <p:sp>
        <p:nvSpPr>
          <p:cNvPr id="7" name="Shape 5"/>
          <p:cNvSpPr/>
          <p:nvPr/>
        </p:nvSpPr>
        <p:spPr>
          <a:xfrm>
            <a:off x="822960" y="4572000"/>
            <a:ext cx="1234440" cy="502920"/>
          </a:xfrm>
          <a:prstGeom prst="roundRect">
            <a:avLst>
              <a:gd name="adj" fmla="val 10909"/>
            </a:avLst>
          </a:prstGeom>
          <a:solidFill>
            <a:srgbClr val="FFFFFF"/>
          </a:solidFill>
          <a:ln w="15875">
            <a:solidFill>
              <a:srgbClr val="028090"/>
            </a:solidFill>
            <a:prstDash val="solid"/>
          </a:ln>
        </p:spPr>
      </p:sp>
      <p:sp>
        <p:nvSpPr>
          <p:cNvPr id="8" name="Text 6"/>
          <p:cNvSpPr txBox="1"/>
          <p:nvPr/>
        </p:nvSpPr>
        <p:spPr>
          <a:xfrm>
            <a:off x="822960" y="4572000"/>
            <a:ext cx="1234440" cy="502920"/>
          </a:xfrm>
          <a:prstGeom prst="rect">
            <a:avLst/>
          </a:prstGeom>
          <a:noFill/>
          <a:ln/>
        </p:spPr>
        <p:txBody>
          <a:bodyPr wrap="square" lIns="0" tIns="0" rIns="0" bIns="0"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PDF</a:t>
            </a:r>
            <a:endParaRPr lang="en-US" sz="1100" dirty="0"/>
          </a:p>
        </p:txBody>
      </p:sp>
      <p:sp>
        <p:nvSpPr>
          <p:cNvPr id="9" name="Text 7"/>
          <p:cNvSpPr txBox="1"/>
          <p:nvPr/>
        </p:nvSpPr>
        <p:spPr>
          <a:xfrm>
            <a:off x="2057400" y="4572000"/>
            <a:ext cx="384048" cy="502920"/>
          </a:xfrm>
          <a:prstGeom prst="rect">
            <a:avLst/>
          </a:prstGeom>
          <a:noFill/>
          <a:ln/>
        </p:spPr>
        <p:txBody>
          <a:bodyPr wrap="square" lIns="0" tIns="0" rIns="0" bIns="0" rtlCol="0" anchor="ctr"/>
          <a:lstStyle/>
          <a:p>
            <a:pPr algn="ctr" indent="0" marL="0">
              <a:buNone/>
            </a:pPr>
            <a:r>
              <a:rPr lang="en-US" sz="1500" b="1" dirty="0">
                <a:solidFill>
                  <a:srgbClr val="00A896"/>
                </a:solidFill>
                <a:latin typeface="Calibri" pitchFamily="34" charset="0"/>
                <a:ea typeface="Calibri" pitchFamily="34" charset="-122"/>
                <a:cs typeface="Calibri" pitchFamily="34" charset="-120"/>
              </a:rPr>
              <a:t>→</a:t>
            </a:r>
            <a:endParaRPr lang="en-US" sz="1500" dirty="0"/>
          </a:p>
        </p:txBody>
      </p:sp>
      <p:sp>
        <p:nvSpPr>
          <p:cNvPr id="10" name="Shape 8"/>
          <p:cNvSpPr/>
          <p:nvPr/>
        </p:nvSpPr>
        <p:spPr>
          <a:xfrm>
            <a:off x="2441448" y="4572000"/>
            <a:ext cx="1234440" cy="502920"/>
          </a:xfrm>
          <a:prstGeom prst="roundRect">
            <a:avLst>
              <a:gd name="adj" fmla="val 10909"/>
            </a:avLst>
          </a:prstGeom>
          <a:solidFill>
            <a:srgbClr val="FFFFFF"/>
          </a:solidFill>
          <a:ln w="15875">
            <a:solidFill>
              <a:srgbClr val="028090"/>
            </a:solidFill>
            <a:prstDash val="solid"/>
          </a:ln>
        </p:spPr>
      </p:sp>
      <p:sp>
        <p:nvSpPr>
          <p:cNvPr id="11" name="Text 9"/>
          <p:cNvSpPr txBox="1"/>
          <p:nvPr/>
        </p:nvSpPr>
        <p:spPr>
          <a:xfrm>
            <a:off x="2441448" y="4572000"/>
            <a:ext cx="1234440" cy="502920"/>
          </a:xfrm>
          <a:prstGeom prst="rect">
            <a:avLst/>
          </a:prstGeom>
          <a:noFill/>
          <a:ln/>
        </p:spPr>
        <p:txBody>
          <a:bodyPr wrap="square" lIns="0" tIns="0" rIns="0" bIns="0"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Chunks</a:t>
            </a:r>
            <a:endParaRPr lang="en-US" sz="1100" dirty="0"/>
          </a:p>
        </p:txBody>
      </p:sp>
      <p:sp>
        <p:nvSpPr>
          <p:cNvPr id="12" name="Text 10"/>
          <p:cNvSpPr txBox="1"/>
          <p:nvPr/>
        </p:nvSpPr>
        <p:spPr>
          <a:xfrm>
            <a:off x="3675888" y="4572000"/>
            <a:ext cx="384048" cy="502920"/>
          </a:xfrm>
          <a:prstGeom prst="rect">
            <a:avLst/>
          </a:prstGeom>
          <a:noFill/>
          <a:ln/>
        </p:spPr>
        <p:txBody>
          <a:bodyPr wrap="square" lIns="0" tIns="0" rIns="0" bIns="0" rtlCol="0" anchor="ctr"/>
          <a:lstStyle/>
          <a:p>
            <a:pPr algn="ctr" indent="0" marL="0">
              <a:buNone/>
            </a:pPr>
            <a:r>
              <a:rPr lang="en-US" sz="1500" b="1" dirty="0">
                <a:solidFill>
                  <a:srgbClr val="00A896"/>
                </a:solidFill>
                <a:latin typeface="Calibri" pitchFamily="34" charset="0"/>
                <a:ea typeface="Calibri" pitchFamily="34" charset="-122"/>
                <a:cs typeface="Calibri" pitchFamily="34" charset="-120"/>
              </a:rPr>
              <a:t>→</a:t>
            </a:r>
            <a:endParaRPr lang="en-US" sz="1500" dirty="0"/>
          </a:p>
        </p:txBody>
      </p:sp>
      <p:sp>
        <p:nvSpPr>
          <p:cNvPr id="13" name="Shape 11"/>
          <p:cNvSpPr/>
          <p:nvPr/>
        </p:nvSpPr>
        <p:spPr>
          <a:xfrm>
            <a:off x="4059936" y="4572000"/>
            <a:ext cx="1234440" cy="502920"/>
          </a:xfrm>
          <a:prstGeom prst="roundRect">
            <a:avLst>
              <a:gd name="adj" fmla="val 10909"/>
            </a:avLst>
          </a:prstGeom>
          <a:solidFill>
            <a:srgbClr val="FFFFFF"/>
          </a:solidFill>
          <a:ln w="15875">
            <a:solidFill>
              <a:srgbClr val="028090"/>
            </a:solidFill>
            <a:prstDash val="solid"/>
          </a:ln>
        </p:spPr>
      </p:sp>
      <p:sp>
        <p:nvSpPr>
          <p:cNvPr id="14" name="Text 12"/>
          <p:cNvSpPr txBox="1"/>
          <p:nvPr/>
        </p:nvSpPr>
        <p:spPr>
          <a:xfrm>
            <a:off x="4059936" y="4572000"/>
            <a:ext cx="1234440" cy="502920"/>
          </a:xfrm>
          <a:prstGeom prst="rect">
            <a:avLst/>
          </a:prstGeom>
          <a:noFill/>
          <a:ln/>
        </p:spPr>
        <p:txBody>
          <a:bodyPr wrap="square" lIns="0" tIns="0" rIns="0" bIns="0"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Embed</a:t>
            </a:r>
            <a:endParaRPr lang="en-US" sz="1100" dirty="0"/>
          </a:p>
        </p:txBody>
      </p:sp>
      <p:sp>
        <p:nvSpPr>
          <p:cNvPr id="15" name="Text 13"/>
          <p:cNvSpPr txBox="1"/>
          <p:nvPr/>
        </p:nvSpPr>
        <p:spPr>
          <a:xfrm>
            <a:off x="5294376" y="4572000"/>
            <a:ext cx="384048" cy="502920"/>
          </a:xfrm>
          <a:prstGeom prst="rect">
            <a:avLst/>
          </a:prstGeom>
          <a:noFill/>
          <a:ln/>
        </p:spPr>
        <p:txBody>
          <a:bodyPr wrap="square" lIns="0" tIns="0" rIns="0" bIns="0" rtlCol="0" anchor="ctr"/>
          <a:lstStyle/>
          <a:p>
            <a:pPr algn="ctr" indent="0" marL="0">
              <a:buNone/>
            </a:pPr>
            <a:r>
              <a:rPr lang="en-US" sz="1500" b="1" dirty="0">
                <a:solidFill>
                  <a:srgbClr val="00A896"/>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5678424" y="4572000"/>
            <a:ext cx="1234440" cy="502920"/>
          </a:xfrm>
          <a:prstGeom prst="roundRect">
            <a:avLst>
              <a:gd name="adj" fmla="val 10909"/>
            </a:avLst>
          </a:prstGeom>
          <a:solidFill>
            <a:srgbClr val="FFFFFF"/>
          </a:solidFill>
          <a:ln w="15875">
            <a:solidFill>
              <a:srgbClr val="028090"/>
            </a:solidFill>
            <a:prstDash val="solid"/>
          </a:ln>
        </p:spPr>
      </p:sp>
      <p:sp>
        <p:nvSpPr>
          <p:cNvPr id="17" name="Text 15"/>
          <p:cNvSpPr txBox="1"/>
          <p:nvPr/>
        </p:nvSpPr>
        <p:spPr>
          <a:xfrm>
            <a:off x="5678424" y="4572000"/>
            <a:ext cx="1234440" cy="502920"/>
          </a:xfrm>
          <a:prstGeom prst="rect">
            <a:avLst/>
          </a:prstGeom>
          <a:noFill/>
          <a:ln/>
        </p:spPr>
        <p:txBody>
          <a:bodyPr wrap="square" lIns="0" tIns="0" rIns="0" bIns="0"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Search</a:t>
            </a:r>
            <a:endParaRPr lang="en-US" sz="1100" dirty="0"/>
          </a:p>
        </p:txBody>
      </p:sp>
      <p:sp>
        <p:nvSpPr>
          <p:cNvPr id="18" name="Text 16"/>
          <p:cNvSpPr txBox="1"/>
          <p:nvPr/>
        </p:nvSpPr>
        <p:spPr>
          <a:xfrm>
            <a:off x="6912864" y="4572000"/>
            <a:ext cx="384048" cy="502920"/>
          </a:xfrm>
          <a:prstGeom prst="rect">
            <a:avLst/>
          </a:prstGeom>
          <a:noFill/>
          <a:ln/>
        </p:spPr>
        <p:txBody>
          <a:bodyPr wrap="square" lIns="0" tIns="0" rIns="0" bIns="0" rtlCol="0" anchor="ctr"/>
          <a:lstStyle/>
          <a:p>
            <a:pPr algn="ctr" indent="0" marL="0">
              <a:buNone/>
            </a:pPr>
            <a:r>
              <a:rPr lang="en-US" sz="1500" b="1" dirty="0">
                <a:solidFill>
                  <a:srgbClr val="00A896"/>
                </a:solidFill>
                <a:latin typeface="Calibri" pitchFamily="34" charset="0"/>
                <a:ea typeface="Calibri" pitchFamily="34" charset="-122"/>
                <a:cs typeface="Calibri" pitchFamily="34" charset="-120"/>
              </a:rPr>
              <a:t>→</a:t>
            </a:r>
            <a:endParaRPr lang="en-US" sz="1500" dirty="0"/>
          </a:p>
        </p:txBody>
      </p:sp>
      <p:sp>
        <p:nvSpPr>
          <p:cNvPr id="19" name="Shape 17"/>
          <p:cNvSpPr/>
          <p:nvPr/>
        </p:nvSpPr>
        <p:spPr>
          <a:xfrm>
            <a:off x="7296912" y="4572000"/>
            <a:ext cx="1234440" cy="502920"/>
          </a:xfrm>
          <a:prstGeom prst="roundRect">
            <a:avLst>
              <a:gd name="adj" fmla="val 10909"/>
            </a:avLst>
          </a:prstGeom>
          <a:solidFill>
            <a:srgbClr val="02C39A"/>
          </a:solidFill>
          <a:ln w="15875">
            <a:solidFill>
              <a:srgbClr val="02C39A"/>
            </a:solidFill>
            <a:prstDash val="solid"/>
          </a:ln>
        </p:spPr>
      </p:sp>
      <p:sp>
        <p:nvSpPr>
          <p:cNvPr id="20" name="Text 18"/>
          <p:cNvSpPr txBox="1"/>
          <p:nvPr/>
        </p:nvSpPr>
        <p:spPr>
          <a:xfrm>
            <a:off x="7296912" y="4572000"/>
            <a:ext cx="1234440" cy="502920"/>
          </a:xfrm>
          <a:prstGeom prst="rect">
            <a:avLst/>
          </a:prstGeom>
          <a:noFill/>
          <a:ln/>
        </p:spPr>
        <p:txBody>
          <a:bodyPr wrap="square" lIns="0" tIns="0" rIns="0" bIns="0" rtlCol="0" anchor="ctr"/>
          <a:lstStyle/>
          <a:p>
            <a:pPr algn="ctr" indent="0" marL="0">
              <a:buNone/>
            </a:pPr>
            <a:r>
              <a:rPr lang="en-US" sz="1100" b="1" dirty="0">
                <a:solidFill>
                  <a:srgbClr val="0E2A33"/>
                </a:solidFill>
                <a:latin typeface="Calibri" pitchFamily="34" charset="0"/>
                <a:ea typeface="Calibri" pitchFamily="34" charset="-122"/>
                <a:cs typeface="Calibri" pitchFamily="34" charset="-120"/>
              </a:rPr>
              <a:t>Answer</a:t>
            </a:r>
            <a:endParaRPr lang="en-US" sz="1100" dirty="0"/>
          </a:p>
        </p:txBody>
      </p:sp>
      <p:sp>
        <p:nvSpPr>
          <p:cNvPr id="21" name="Text 19"/>
          <p:cNvSpPr txBox="1"/>
          <p:nvPr/>
        </p:nvSpPr>
        <p:spPr>
          <a:xfrm>
            <a:off x="822960" y="6035040"/>
            <a:ext cx="7315200" cy="365760"/>
          </a:xfrm>
          <a:prstGeom prst="rect">
            <a:avLst/>
          </a:prstGeom>
          <a:noFill/>
          <a:ln/>
        </p:spPr>
        <p:txBody>
          <a:bodyPr wrap="square" rtlCol="0" anchor="ctr"/>
          <a:lstStyle/>
          <a:p>
            <a:pPr indent="0" marL="0">
              <a:buNone/>
            </a:pPr>
            <a:r>
              <a:rPr lang="en-US" sz="1300" i="1" dirty="0">
                <a:solidFill>
                  <a:srgbClr val="9FBEBF"/>
                </a:solidFill>
                <a:latin typeface="Calibri" pitchFamily="34" charset="0"/>
                <a:ea typeface="Calibri" pitchFamily="34" charset="-122"/>
                <a:cs typeface="Calibri" pitchFamily="34" charset="-120"/>
              </a:rPr>
              <a:t>Presented by the AI Society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640080" y="457200"/>
            <a:ext cx="8229600" cy="731520"/>
          </a:xfrm>
          <a:prstGeom prst="rect">
            <a:avLst/>
          </a:prstGeom>
          <a:noFill/>
          <a:ln/>
        </p:spPr>
        <p:txBody>
          <a:bodyPr wrap="square" rtlCol="0" anchor="ctr"/>
          <a:lstStyle/>
          <a:p>
            <a:pPr indent="0" marL="0">
              <a:buNone/>
            </a:pPr>
            <a:r>
              <a:rPr lang="en-US" sz="4000" b="1" dirty="0">
                <a:solidFill>
                  <a:srgbClr val="0E2A33"/>
                </a:solidFill>
                <a:latin typeface="Cambria" pitchFamily="34" charset="0"/>
                <a:ea typeface="Cambria" pitchFamily="34" charset="-122"/>
                <a:cs typeface="Cambria" pitchFamily="34" charset="-120"/>
              </a:rPr>
              <a:t>What you'll build</a:t>
            </a:r>
            <a:endParaRPr lang="en-US" sz="4000" dirty="0"/>
          </a:p>
        </p:txBody>
      </p:sp>
      <p:sp>
        <p:nvSpPr>
          <p:cNvPr id="3" name="Shape 1"/>
          <p:cNvSpPr/>
          <p:nvPr/>
        </p:nvSpPr>
        <p:spPr>
          <a:xfrm>
            <a:off x="731520" y="1554480"/>
            <a:ext cx="658368" cy="658368"/>
          </a:xfrm>
          <a:prstGeom prst="ellipse">
            <a:avLst/>
          </a:prstGeom>
          <a:solidFill>
            <a:srgbClr val="028090"/>
          </a:solidFill>
          <a:ln/>
        </p:spPr>
      </p:sp>
      <p:sp>
        <p:nvSpPr>
          <p:cNvPr id="4" name="Text 2"/>
          <p:cNvSpPr txBox="1"/>
          <p:nvPr/>
        </p:nvSpPr>
        <p:spPr>
          <a:xfrm>
            <a:off x="731520" y="1554480"/>
            <a:ext cx="658368"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600200" y="1536192"/>
            <a:ext cx="4572000" cy="411480"/>
          </a:xfrm>
          <a:prstGeom prst="rect">
            <a:avLst/>
          </a:prstGeom>
          <a:noFill/>
          <a:ln/>
        </p:spPr>
        <p:txBody>
          <a:bodyPr wrap="square" lIns="0" tIns="0" rIns="0" bIns="0" rtlCol="0" anchor="ctr"/>
          <a:lstStyle/>
          <a:p>
            <a:pPr indent="0" marL="0">
              <a:buNone/>
            </a:pPr>
            <a:r>
              <a:rPr lang="en-US" sz="1900" b="1" dirty="0">
                <a:solidFill>
                  <a:srgbClr val="0E2A33"/>
                </a:solidFill>
                <a:latin typeface="Cambria" pitchFamily="34" charset="0"/>
                <a:ea typeface="Cambria" pitchFamily="34" charset="-122"/>
                <a:cs typeface="Cambria" pitchFamily="34" charset="-120"/>
              </a:rPr>
              <a:t>Ask questions</a:t>
            </a:r>
            <a:endParaRPr lang="en-US" sz="1900" dirty="0"/>
          </a:p>
        </p:txBody>
      </p:sp>
      <p:sp>
        <p:nvSpPr>
          <p:cNvPr id="6" name="Text 4"/>
          <p:cNvSpPr txBox="1"/>
          <p:nvPr/>
        </p:nvSpPr>
        <p:spPr>
          <a:xfrm>
            <a:off x="1600200" y="1938528"/>
            <a:ext cx="4846320" cy="548640"/>
          </a:xfrm>
          <a:prstGeom prst="rect">
            <a:avLst/>
          </a:prstGeom>
          <a:noFill/>
          <a:ln/>
        </p:spPr>
        <p:txBody>
          <a:bodyPr wrap="square" lIns="0" tIns="0" rIns="0" bIns="0" rtlCol="0" anchor="ctr"/>
          <a:lstStyle/>
          <a:p>
            <a:pPr indent="0" marL="0">
              <a:buNone/>
            </a:pPr>
            <a:r>
              <a:rPr lang="en-US" sz="1400" dirty="0">
                <a:solidFill>
                  <a:srgbClr val="5E6F73"/>
                </a:solidFill>
                <a:latin typeface="Calibri" pitchFamily="34" charset="0"/>
                <a:ea typeface="Calibri" pitchFamily="34" charset="-122"/>
                <a:cs typeface="Calibri" pitchFamily="34" charset="-120"/>
              </a:rPr>
              <a:t>Type a question about a document and get a grounded answer.</a:t>
            </a:r>
            <a:endParaRPr lang="en-US" sz="1400" dirty="0"/>
          </a:p>
        </p:txBody>
      </p:sp>
      <p:sp>
        <p:nvSpPr>
          <p:cNvPr id="7" name="Shape 5"/>
          <p:cNvSpPr/>
          <p:nvPr/>
        </p:nvSpPr>
        <p:spPr>
          <a:xfrm>
            <a:off x="731520" y="2697480"/>
            <a:ext cx="658368" cy="658368"/>
          </a:xfrm>
          <a:prstGeom prst="ellipse">
            <a:avLst/>
          </a:prstGeom>
          <a:solidFill>
            <a:srgbClr val="028090"/>
          </a:solidFill>
          <a:ln/>
        </p:spPr>
      </p:sp>
      <p:sp>
        <p:nvSpPr>
          <p:cNvPr id="8" name="Text 6"/>
          <p:cNvSpPr txBox="1"/>
          <p:nvPr/>
        </p:nvSpPr>
        <p:spPr>
          <a:xfrm>
            <a:off x="731520" y="2697480"/>
            <a:ext cx="658368"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1600200" y="2679192"/>
            <a:ext cx="4572000" cy="411480"/>
          </a:xfrm>
          <a:prstGeom prst="rect">
            <a:avLst/>
          </a:prstGeom>
          <a:noFill/>
          <a:ln/>
        </p:spPr>
        <p:txBody>
          <a:bodyPr wrap="square" lIns="0" tIns="0" rIns="0" bIns="0" rtlCol="0" anchor="ctr"/>
          <a:lstStyle/>
          <a:p>
            <a:pPr indent="0" marL="0">
              <a:buNone/>
            </a:pPr>
            <a:r>
              <a:rPr lang="en-US" sz="1900" b="1" dirty="0">
                <a:solidFill>
                  <a:srgbClr val="0E2A33"/>
                </a:solidFill>
                <a:latin typeface="Cambria" pitchFamily="34" charset="0"/>
                <a:ea typeface="Cambria" pitchFamily="34" charset="-122"/>
                <a:cs typeface="Cambria" pitchFamily="34" charset="-120"/>
              </a:rPr>
              <a:t>See the sources</a:t>
            </a:r>
            <a:endParaRPr lang="en-US" sz="1900" dirty="0"/>
          </a:p>
        </p:txBody>
      </p:sp>
      <p:sp>
        <p:nvSpPr>
          <p:cNvPr id="10" name="Text 8"/>
          <p:cNvSpPr txBox="1"/>
          <p:nvPr/>
        </p:nvSpPr>
        <p:spPr>
          <a:xfrm>
            <a:off x="1600200" y="3081528"/>
            <a:ext cx="4846320" cy="548640"/>
          </a:xfrm>
          <a:prstGeom prst="rect">
            <a:avLst/>
          </a:prstGeom>
          <a:noFill/>
          <a:ln/>
        </p:spPr>
        <p:txBody>
          <a:bodyPr wrap="square" lIns="0" tIns="0" rIns="0" bIns="0" rtlCol="0" anchor="ctr"/>
          <a:lstStyle/>
          <a:p>
            <a:pPr indent="0" marL="0">
              <a:buNone/>
            </a:pPr>
            <a:r>
              <a:rPr lang="en-US" sz="1400" dirty="0">
                <a:solidFill>
                  <a:srgbClr val="5E6F73"/>
                </a:solidFill>
                <a:latin typeface="Calibri" pitchFamily="34" charset="0"/>
                <a:ea typeface="Calibri" pitchFamily="34" charset="-122"/>
                <a:cs typeface="Calibri" pitchFamily="34" charset="-120"/>
              </a:rPr>
              <a:t>Every answer cites the exact chunks it came from.</a:t>
            </a:r>
            <a:endParaRPr lang="en-US" sz="1400" dirty="0"/>
          </a:p>
        </p:txBody>
      </p:sp>
      <p:sp>
        <p:nvSpPr>
          <p:cNvPr id="11" name="Shape 9"/>
          <p:cNvSpPr/>
          <p:nvPr/>
        </p:nvSpPr>
        <p:spPr>
          <a:xfrm>
            <a:off x="731520" y="3840480"/>
            <a:ext cx="658368" cy="658368"/>
          </a:xfrm>
          <a:prstGeom prst="ellipse">
            <a:avLst/>
          </a:prstGeom>
          <a:solidFill>
            <a:srgbClr val="028090"/>
          </a:solidFill>
          <a:ln/>
        </p:spPr>
      </p:sp>
      <p:sp>
        <p:nvSpPr>
          <p:cNvPr id="12" name="Text 10"/>
          <p:cNvSpPr txBox="1"/>
          <p:nvPr/>
        </p:nvSpPr>
        <p:spPr>
          <a:xfrm>
            <a:off x="731520" y="3840480"/>
            <a:ext cx="658368"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600200" y="3822192"/>
            <a:ext cx="4572000" cy="411480"/>
          </a:xfrm>
          <a:prstGeom prst="rect">
            <a:avLst/>
          </a:prstGeom>
          <a:noFill/>
          <a:ln/>
        </p:spPr>
        <p:txBody>
          <a:bodyPr wrap="square" lIns="0" tIns="0" rIns="0" bIns="0" rtlCol="0" anchor="ctr"/>
          <a:lstStyle/>
          <a:p>
            <a:pPr indent="0" marL="0">
              <a:buNone/>
            </a:pPr>
            <a:r>
              <a:rPr lang="en-US" sz="1900" b="1" dirty="0">
                <a:solidFill>
                  <a:srgbClr val="0E2A33"/>
                </a:solidFill>
                <a:latin typeface="Cambria" pitchFamily="34" charset="0"/>
                <a:ea typeface="Cambria" pitchFamily="34" charset="-122"/>
                <a:cs typeface="Cambria" pitchFamily="34" charset="-120"/>
              </a:rPr>
              <a:t>Inspect retrieval</a:t>
            </a:r>
            <a:endParaRPr lang="en-US" sz="1900" dirty="0"/>
          </a:p>
        </p:txBody>
      </p:sp>
      <p:sp>
        <p:nvSpPr>
          <p:cNvPr id="14" name="Text 12"/>
          <p:cNvSpPr txBox="1"/>
          <p:nvPr/>
        </p:nvSpPr>
        <p:spPr>
          <a:xfrm>
            <a:off x="1600200" y="4224528"/>
            <a:ext cx="4846320" cy="548640"/>
          </a:xfrm>
          <a:prstGeom prst="rect">
            <a:avLst/>
          </a:prstGeom>
          <a:noFill/>
          <a:ln/>
        </p:spPr>
        <p:txBody>
          <a:bodyPr wrap="square" lIns="0" tIns="0" rIns="0" bIns="0" rtlCol="0" anchor="ctr"/>
          <a:lstStyle/>
          <a:p>
            <a:pPr indent="0" marL="0">
              <a:buNone/>
            </a:pPr>
            <a:r>
              <a:rPr lang="en-US" sz="1400" dirty="0">
                <a:solidFill>
                  <a:srgbClr val="5E6F73"/>
                </a:solidFill>
                <a:latin typeface="Calibri" pitchFamily="34" charset="0"/>
                <a:ea typeface="Calibri" pitchFamily="34" charset="-122"/>
                <a:cs typeface="Calibri" pitchFamily="34" charset="-120"/>
              </a:rPr>
              <a:t>Similarity scores and per-stage latency, in the open.</a:t>
            </a:r>
            <a:endParaRPr lang="en-US" sz="1400" dirty="0"/>
          </a:p>
        </p:txBody>
      </p:sp>
      <p:sp>
        <p:nvSpPr>
          <p:cNvPr id="15" name="Shape 13"/>
          <p:cNvSpPr/>
          <p:nvPr/>
        </p:nvSpPr>
        <p:spPr>
          <a:xfrm>
            <a:off x="731520" y="4983480"/>
            <a:ext cx="658368" cy="658368"/>
          </a:xfrm>
          <a:prstGeom prst="ellipse">
            <a:avLst/>
          </a:prstGeom>
          <a:solidFill>
            <a:srgbClr val="028090"/>
          </a:solidFill>
          <a:ln/>
        </p:spPr>
      </p:sp>
      <p:sp>
        <p:nvSpPr>
          <p:cNvPr id="16" name="Text 14"/>
          <p:cNvSpPr txBox="1"/>
          <p:nvPr/>
        </p:nvSpPr>
        <p:spPr>
          <a:xfrm>
            <a:off x="731520" y="4983480"/>
            <a:ext cx="658368"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1600200" y="4965192"/>
            <a:ext cx="4572000" cy="411480"/>
          </a:xfrm>
          <a:prstGeom prst="rect">
            <a:avLst/>
          </a:prstGeom>
          <a:noFill/>
          <a:ln/>
        </p:spPr>
        <p:txBody>
          <a:bodyPr wrap="square" lIns="0" tIns="0" rIns="0" bIns="0" rtlCol="0" anchor="ctr"/>
          <a:lstStyle/>
          <a:p>
            <a:pPr indent="0" marL="0">
              <a:buNone/>
            </a:pPr>
            <a:r>
              <a:rPr lang="en-US" sz="1900" b="1" dirty="0">
                <a:solidFill>
                  <a:srgbClr val="0E2A33"/>
                </a:solidFill>
                <a:latin typeface="Cambria" pitchFamily="34" charset="0"/>
                <a:ea typeface="Cambria" pitchFamily="34" charset="-122"/>
                <a:cs typeface="Cambria" pitchFamily="34" charset="-120"/>
              </a:rPr>
              <a:t>Live on the web</a:t>
            </a:r>
            <a:endParaRPr lang="en-US" sz="1900" dirty="0"/>
          </a:p>
        </p:txBody>
      </p:sp>
      <p:sp>
        <p:nvSpPr>
          <p:cNvPr id="18" name="Text 16"/>
          <p:cNvSpPr txBox="1"/>
          <p:nvPr/>
        </p:nvSpPr>
        <p:spPr>
          <a:xfrm>
            <a:off x="1600200" y="5367528"/>
            <a:ext cx="4846320" cy="548640"/>
          </a:xfrm>
          <a:prstGeom prst="rect">
            <a:avLst/>
          </a:prstGeom>
          <a:noFill/>
          <a:ln/>
        </p:spPr>
        <p:txBody>
          <a:bodyPr wrap="square" lIns="0" tIns="0" rIns="0" bIns="0" rtlCol="0" anchor="ctr"/>
          <a:lstStyle/>
          <a:p>
            <a:pPr indent="0" marL="0">
              <a:buNone/>
            </a:pPr>
            <a:r>
              <a:rPr lang="en-US" sz="1400" dirty="0">
                <a:solidFill>
                  <a:srgbClr val="5E6F73"/>
                </a:solidFill>
                <a:latin typeface="Calibri" pitchFamily="34" charset="0"/>
                <a:ea typeface="Calibri" pitchFamily="34" charset="-122"/>
                <a:cs typeface="Calibri" pitchFamily="34" charset="-120"/>
              </a:rPr>
              <a:t>Deployed to a public URL anyone can open.</a:t>
            </a:r>
            <a:endParaRPr lang="en-US" sz="1400" dirty="0"/>
          </a:p>
        </p:txBody>
      </p:sp>
      <p:sp>
        <p:nvSpPr>
          <p:cNvPr id="19" name="Shape 17"/>
          <p:cNvSpPr/>
          <p:nvPr/>
        </p:nvSpPr>
        <p:spPr>
          <a:xfrm>
            <a:off x="6949440" y="1554480"/>
            <a:ext cx="4663440" cy="4663440"/>
          </a:xfrm>
          <a:prstGeom prst="roundRect">
            <a:avLst>
              <a:gd name="adj" fmla="val 1765"/>
            </a:avLst>
          </a:prstGeom>
          <a:solidFill>
            <a:srgbClr val="FFFFFF"/>
          </a:solidFill>
          <a:ln w="12700">
            <a:solidFill>
              <a:srgbClr val="D5E0E1"/>
            </a:solidFill>
            <a:prstDash val="solid"/>
          </a:ln>
          <a:effectLst>
            <a:outerShdw sx="100000" sy="100000" kx="0" ky="0" algn="bl" rotWithShape="0" blurRad="101600" dist="38100" dir="5400000">
              <a:srgbClr val="9BB0B3">
                <a:alpha val="35000"/>
              </a:srgbClr>
            </a:outerShdw>
          </a:effectLst>
        </p:spPr>
      </p:sp>
      <p:sp>
        <p:nvSpPr>
          <p:cNvPr id="20" name="Text 18"/>
          <p:cNvSpPr txBox="1"/>
          <p:nvPr/>
        </p:nvSpPr>
        <p:spPr>
          <a:xfrm>
            <a:off x="7223760" y="1783080"/>
            <a:ext cx="4114800" cy="36576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  RAG Assistant</a:t>
            </a:r>
            <a:endParaRPr lang="en-US" sz="1600" dirty="0"/>
          </a:p>
        </p:txBody>
      </p:sp>
      <p:sp>
        <p:nvSpPr>
          <p:cNvPr id="21" name="Shape 19"/>
          <p:cNvSpPr/>
          <p:nvPr/>
        </p:nvSpPr>
        <p:spPr>
          <a:xfrm>
            <a:off x="7223760" y="2286000"/>
            <a:ext cx="4114800" cy="457200"/>
          </a:xfrm>
          <a:prstGeom prst="roundRect">
            <a:avLst>
              <a:gd name="adj" fmla="val 10000"/>
            </a:avLst>
          </a:prstGeom>
          <a:solidFill>
            <a:srgbClr val="F4F7F7"/>
          </a:solidFill>
          <a:ln w="12700">
            <a:solidFill>
              <a:srgbClr val="D5E0E1"/>
            </a:solidFill>
            <a:prstDash val="solid"/>
          </a:ln>
        </p:spPr>
      </p:sp>
      <p:sp>
        <p:nvSpPr>
          <p:cNvPr id="22" name="Text 20"/>
          <p:cNvSpPr txBox="1"/>
          <p:nvPr/>
        </p:nvSpPr>
        <p:spPr>
          <a:xfrm>
            <a:off x="7360920" y="2286000"/>
            <a:ext cx="3840480" cy="457200"/>
          </a:xfrm>
          <a:prstGeom prst="rect">
            <a:avLst/>
          </a:prstGeom>
          <a:noFill/>
          <a:ln/>
        </p:spPr>
        <p:txBody>
          <a:bodyPr wrap="square" lIns="0" tIns="0" rIns="0" bIns="0" rtlCol="0" anchor="ctr"/>
          <a:lstStyle/>
          <a:p>
            <a:pPr indent="0" marL="0">
              <a:buNone/>
            </a:pPr>
            <a:r>
              <a:rPr lang="en-US" sz="1200" dirty="0">
                <a:solidFill>
                  <a:srgbClr val="16272C"/>
                </a:solidFill>
                <a:latin typeface="Calibri" pitchFamily="34" charset="0"/>
                <a:ea typeface="Calibri" pitchFamily="34" charset="-122"/>
                <a:cs typeface="Calibri" pitchFamily="34" charset="-120"/>
              </a:rPr>
              <a:t>How much does membership cost?</a:t>
            </a:r>
            <a:endParaRPr lang="en-US" sz="1200" dirty="0"/>
          </a:p>
        </p:txBody>
      </p:sp>
      <p:sp>
        <p:nvSpPr>
          <p:cNvPr id="23" name="Shape 21"/>
          <p:cNvSpPr/>
          <p:nvPr/>
        </p:nvSpPr>
        <p:spPr>
          <a:xfrm>
            <a:off x="7223760" y="2880360"/>
            <a:ext cx="4114800" cy="1051560"/>
          </a:xfrm>
          <a:prstGeom prst="roundRect">
            <a:avLst>
              <a:gd name="adj" fmla="val 4348"/>
            </a:avLst>
          </a:prstGeom>
          <a:solidFill>
            <a:srgbClr val="E8F5F2"/>
          </a:solidFill>
          <a:ln/>
        </p:spPr>
      </p:sp>
      <p:sp>
        <p:nvSpPr>
          <p:cNvPr id="24" name="Text 22"/>
          <p:cNvSpPr txBox="1"/>
          <p:nvPr/>
        </p:nvSpPr>
        <p:spPr>
          <a:xfrm>
            <a:off x="7360920" y="2971800"/>
            <a:ext cx="3840480" cy="868680"/>
          </a:xfrm>
          <a:prstGeom prst="rect">
            <a:avLst/>
          </a:prstGeom>
          <a:noFill/>
          <a:ln/>
        </p:spPr>
        <p:txBody>
          <a:bodyPr wrap="square" lIns="0" tIns="0" rIns="0" bIns="0" rtlCol="0" anchor="t"/>
          <a:lstStyle/>
          <a:p>
            <a:pPr indent="0" marL="0">
              <a:buNone/>
            </a:pPr>
            <a:r>
              <a:rPr lang="en-US" sz="1200" dirty="0">
                <a:solidFill>
                  <a:srgbClr val="0E2A33"/>
                </a:solidFill>
                <a:latin typeface="Calibri" pitchFamily="34" charset="0"/>
                <a:ea typeface="Calibri" pitchFamily="34" charset="-122"/>
                <a:cs typeface="Calibri" pitchFamily="34" charset="-120"/>
              </a:rPr>
              <a:t>Membership is $15 per semester and includes all workshops and the project track.</a:t>
            </a:r>
            <a:endParaRPr lang="en-US" sz="1200" dirty="0"/>
          </a:p>
        </p:txBody>
      </p:sp>
      <p:sp>
        <p:nvSpPr>
          <p:cNvPr id="25" name="Text 23"/>
          <p:cNvSpPr txBox="1"/>
          <p:nvPr/>
        </p:nvSpPr>
        <p:spPr>
          <a:xfrm>
            <a:off x="7223760" y="4069080"/>
            <a:ext cx="4114800" cy="32004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How was this answer generated?</a:t>
            </a:r>
            <a:endParaRPr lang="en-US" sz="1100" dirty="0"/>
          </a:p>
        </p:txBody>
      </p:sp>
      <p:sp>
        <p:nvSpPr>
          <p:cNvPr id="26" name="Shape 24"/>
          <p:cNvSpPr/>
          <p:nvPr/>
        </p:nvSpPr>
        <p:spPr>
          <a:xfrm>
            <a:off x="7223760" y="4434840"/>
            <a:ext cx="4114800" cy="365760"/>
          </a:xfrm>
          <a:prstGeom prst="roundRect">
            <a:avLst>
              <a:gd name="adj" fmla="val 10000"/>
            </a:avLst>
          </a:prstGeom>
          <a:solidFill>
            <a:srgbClr val="F4F7F7"/>
          </a:solidFill>
          <a:ln w="9525">
            <a:solidFill>
              <a:srgbClr val="D5E0E1"/>
            </a:solidFill>
            <a:prstDash val="solid"/>
          </a:ln>
        </p:spPr>
      </p:sp>
      <p:sp>
        <p:nvSpPr>
          <p:cNvPr id="27" name="Text 25"/>
          <p:cNvSpPr txBox="1"/>
          <p:nvPr/>
        </p:nvSpPr>
        <p:spPr>
          <a:xfrm>
            <a:off x="7360920" y="4434840"/>
            <a:ext cx="2743200" cy="365760"/>
          </a:xfrm>
          <a:prstGeom prst="rect">
            <a:avLst/>
          </a:prstGeom>
          <a:noFill/>
          <a:ln/>
        </p:spPr>
        <p:txBody>
          <a:bodyPr wrap="square" lIns="0" tIns="0" rIns="0" bIns="0" rtlCol="0" anchor="ctr"/>
          <a:lstStyle/>
          <a:p>
            <a:pPr indent="0" marL="0">
              <a:buNone/>
            </a:pPr>
            <a:r>
              <a:rPr lang="en-US" sz="1100" dirty="0">
                <a:solidFill>
                  <a:srgbClr val="16272C"/>
                </a:solidFill>
                <a:latin typeface="Courier New" pitchFamily="34" charset="0"/>
                <a:ea typeface="Courier New" pitchFamily="34" charset="-122"/>
                <a:cs typeface="Courier New" pitchFamily="34" charset="-120"/>
              </a:rPr>
              <a:t>Source 1 · #3 · 0.71</a:t>
            </a:r>
            <a:endParaRPr lang="en-US" sz="1100" dirty="0"/>
          </a:p>
        </p:txBody>
      </p:sp>
      <p:sp>
        <p:nvSpPr>
          <p:cNvPr id="28" name="Shape 26"/>
          <p:cNvSpPr/>
          <p:nvPr/>
        </p:nvSpPr>
        <p:spPr>
          <a:xfrm>
            <a:off x="10241280" y="4526280"/>
            <a:ext cx="681685" cy="182880"/>
          </a:xfrm>
          <a:prstGeom prst="roundRect">
            <a:avLst>
              <a:gd name="adj" fmla="val 15000"/>
            </a:avLst>
          </a:prstGeom>
          <a:solidFill>
            <a:srgbClr val="02C39A"/>
          </a:solidFill>
          <a:ln/>
        </p:spPr>
      </p:sp>
      <p:sp>
        <p:nvSpPr>
          <p:cNvPr id="29" name="Shape 27"/>
          <p:cNvSpPr/>
          <p:nvPr/>
        </p:nvSpPr>
        <p:spPr>
          <a:xfrm>
            <a:off x="7223760" y="4892040"/>
            <a:ext cx="4114800" cy="365760"/>
          </a:xfrm>
          <a:prstGeom prst="roundRect">
            <a:avLst>
              <a:gd name="adj" fmla="val 10000"/>
            </a:avLst>
          </a:prstGeom>
          <a:solidFill>
            <a:srgbClr val="F4F7F7"/>
          </a:solidFill>
          <a:ln w="9525">
            <a:solidFill>
              <a:srgbClr val="D5E0E1"/>
            </a:solidFill>
            <a:prstDash val="solid"/>
          </a:ln>
        </p:spPr>
      </p:sp>
      <p:sp>
        <p:nvSpPr>
          <p:cNvPr id="30" name="Text 28"/>
          <p:cNvSpPr txBox="1"/>
          <p:nvPr/>
        </p:nvSpPr>
        <p:spPr>
          <a:xfrm>
            <a:off x="7360920" y="4892040"/>
            <a:ext cx="2743200" cy="365760"/>
          </a:xfrm>
          <a:prstGeom prst="rect">
            <a:avLst/>
          </a:prstGeom>
          <a:noFill/>
          <a:ln/>
        </p:spPr>
        <p:txBody>
          <a:bodyPr wrap="square" lIns="0" tIns="0" rIns="0" bIns="0" rtlCol="0" anchor="ctr"/>
          <a:lstStyle/>
          <a:p>
            <a:pPr indent="0" marL="0">
              <a:buNone/>
            </a:pPr>
            <a:r>
              <a:rPr lang="en-US" sz="1100" dirty="0">
                <a:solidFill>
                  <a:srgbClr val="16272C"/>
                </a:solidFill>
                <a:latin typeface="Courier New" pitchFamily="34" charset="0"/>
                <a:ea typeface="Courier New" pitchFamily="34" charset="-122"/>
                <a:cs typeface="Courier New" pitchFamily="34" charset="-120"/>
              </a:rPr>
              <a:t>Source 2 · #4 · 0.66</a:t>
            </a:r>
            <a:endParaRPr lang="en-US" sz="1100" dirty="0"/>
          </a:p>
        </p:txBody>
      </p:sp>
      <p:sp>
        <p:nvSpPr>
          <p:cNvPr id="31" name="Shape 29"/>
          <p:cNvSpPr/>
          <p:nvPr/>
        </p:nvSpPr>
        <p:spPr>
          <a:xfrm>
            <a:off x="10241280" y="4983480"/>
            <a:ext cx="633679" cy="182880"/>
          </a:xfrm>
          <a:prstGeom prst="roundRect">
            <a:avLst>
              <a:gd name="adj" fmla="val 15000"/>
            </a:avLst>
          </a:prstGeom>
          <a:solidFill>
            <a:srgbClr val="02C39A"/>
          </a:solidFill>
          <a:ln/>
        </p:spPr>
      </p:sp>
      <p:sp>
        <p:nvSpPr>
          <p:cNvPr id="32" name="Shape 30"/>
          <p:cNvSpPr/>
          <p:nvPr/>
        </p:nvSpPr>
        <p:spPr>
          <a:xfrm>
            <a:off x="7223760" y="5349240"/>
            <a:ext cx="4114800" cy="365760"/>
          </a:xfrm>
          <a:prstGeom prst="roundRect">
            <a:avLst>
              <a:gd name="adj" fmla="val 10000"/>
            </a:avLst>
          </a:prstGeom>
          <a:solidFill>
            <a:srgbClr val="F4F7F7"/>
          </a:solidFill>
          <a:ln w="9525">
            <a:solidFill>
              <a:srgbClr val="D5E0E1"/>
            </a:solidFill>
            <a:prstDash val="solid"/>
          </a:ln>
        </p:spPr>
      </p:sp>
      <p:sp>
        <p:nvSpPr>
          <p:cNvPr id="33" name="Text 31"/>
          <p:cNvSpPr txBox="1"/>
          <p:nvPr/>
        </p:nvSpPr>
        <p:spPr>
          <a:xfrm>
            <a:off x="7360920" y="5349240"/>
            <a:ext cx="2743200" cy="365760"/>
          </a:xfrm>
          <a:prstGeom prst="rect">
            <a:avLst/>
          </a:prstGeom>
          <a:noFill/>
          <a:ln/>
        </p:spPr>
        <p:txBody>
          <a:bodyPr wrap="square" lIns="0" tIns="0" rIns="0" bIns="0" rtlCol="0" anchor="ctr"/>
          <a:lstStyle/>
          <a:p>
            <a:pPr indent="0" marL="0">
              <a:buNone/>
            </a:pPr>
            <a:r>
              <a:rPr lang="en-US" sz="1100" dirty="0">
                <a:solidFill>
                  <a:srgbClr val="16272C"/>
                </a:solidFill>
                <a:latin typeface="Courier New" pitchFamily="34" charset="0"/>
                <a:ea typeface="Courier New" pitchFamily="34" charset="-122"/>
                <a:cs typeface="Courier New" pitchFamily="34" charset="-120"/>
              </a:rPr>
              <a:t>Source 3 · #1 · 0.52</a:t>
            </a:r>
            <a:endParaRPr lang="en-US" sz="1100" dirty="0"/>
          </a:p>
        </p:txBody>
      </p:sp>
      <p:sp>
        <p:nvSpPr>
          <p:cNvPr id="34" name="Shape 32"/>
          <p:cNvSpPr/>
          <p:nvPr/>
        </p:nvSpPr>
        <p:spPr>
          <a:xfrm>
            <a:off x="10241280" y="5440680"/>
            <a:ext cx="499262" cy="182880"/>
          </a:xfrm>
          <a:prstGeom prst="roundRect">
            <a:avLst>
              <a:gd name="adj" fmla="val 15000"/>
            </a:avLst>
          </a:prstGeom>
          <a:solidFill>
            <a:srgbClr val="02C39A"/>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731520"/>
          </a:xfrm>
          <a:prstGeom prst="rect">
            <a:avLst/>
          </a:prstGeom>
          <a:noFill/>
          <a:ln/>
        </p:spPr>
        <p:txBody>
          <a:bodyPr wrap="square" rtlCol="0" anchor="ctr"/>
          <a:lstStyle/>
          <a:p>
            <a:pPr indent="0" marL="0">
              <a:buNone/>
            </a:pPr>
            <a:r>
              <a:rPr lang="en-US" sz="4000" b="1" dirty="0">
                <a:solidFill>
                  <a:srgbClr val="0E2A33"/>
                </a:solidFill>
                <a:latin typeface="Cambria" pitchFamily="34" charset="0"/>
                <a:ea typeface="Cambria" pitchFamily="34" charset="-122"/>
                <a:cs typeface="Cambria" pitchFamily="34" charset="-120"/>
              </a:rPr>
              <a:t>The problem RAG solves</a:t>
            </a:r>
            <a:endParaRPr lang="en-US" sz="4000" dirty="0"/>
          </a:p>
        </p:txBody>
      </p:sp>
      <p:sp>
        <p:nvSpPr>
          <p:cNvPr id="3" name="Text 1"/>
          <p:cNvSpPr txBox="1"/>
          <p:nvPr/>
        </p:nvSpPr>
        <p:spPr>
          <a:xfrm>
            <a:off x="640080" y="1234440"/>
            <a:ext cx="10515600" cy="548640"/>
          </a:xfrm>
          <a:prstGeom prst="rect">
            <a:avLst/>
          </a:prstGeom>
          <a:noFill/>
          <a:ln/>
        </p:spPr>
        <p:txBody>
          <a:bodyPr wrap="square" rtlCol="0" anchor="ctr"/>
          <a:lstStyle/>
          <a:p>
            <a:pPr indent="0" marL="0">
              <a:buNone/>
            </a:pPr>
            <a:r>
              <a:rPr lang="en-US" sz="1700" dirty="0">
                <a:solidFill>
                  <a:srgbClr val="5E6F73"/>
                </a:solidFill>
                <a:latin typeface="Calibri" pitchFamily="34" charset="0"/>
                <a:ea typeface="Calibri" pitchFamily="34" charset="-122"/>
                <a:cs typeface="Calibri" pitchFamily="34" charset="-120"/>
              </a:rPr>
              <a:t>An LLM only knows its training data. It can't see your documents — and when asked anyway, it guesses.</a:t>
            </a:r>
            <a:endParaRPr lang="en-US" sz="1700" dirty="0"/>
          </a:p>
        </p:txBody>
      </p:sp>
      <p:sp>
        <p:nvSpPr>
          <p:cNvPr id="4" name="Shape 2"/>
          <p:cNvSpPr/>
          <p:nvPr/>
        </p:nvSpPr>
        <p:spPr>
          <a:xfrm>
            <a:off x="640080" y="2103120"/>
            <a:ext cx="5212080" cy="3566160"/>
          </a:xfrm>
          <a:prstGeom prst="roundRect">
            <a:avLst>
              <a:gd name="adj" fmla="val 2308"/>
            </a:avLst>
          </a:prstGeom>
          <a:solidFill>
            <a:srgbClr val="FFFFFF"/>
          </a:solidFill>
          <a:ln w="12700">
            <a:solidFill>
              <a:srgbClr val="D5E0E1"/>
            </a:solidFill>
            <a:prstDash val="solid"/>
          </a:ln>
          <a:effectLst>
            <a:outerShdw sx="100000" sy="100000" kx="0" ky="0" algn="bl" rotWithShape="0" blurRad="101600" dist="38100" dir="5400000">
              <a:srgbClr val="9BB0B3">
                <a:alpha val="35000"/>
              </a:srgbClr>
            </a:outerShdw>
          </a:effectLst>
        </p:spPr>
      </p:sp>
      <p:sp>
        <p:nvSpPr>
          <p:cNvPr id="5" name="Text 3"/>
          <p:cNvSpPr txBox="1"/>
          <p:nvPr/>
        </p:nvSpPr>
        <p:spPr>
          <a:xfrm>
            <a:off x="914400" y="2331720"/>
            <a:ext cx="4572000" cy="365760"/>
          </a:xfrm>
          <a:prstGeom prst="rect">
            <a:avLst/>
          </a:prstGeom>
          <a:noFill/>
          <a:ln/>
        </p:spPr>
        <p:txBody>
          <a:bodyPr wrap="square" lIns="0" tIns="0" rIns="0" bIns="0" rtlCol="0" anchor="ctr"/>
          <a:lstStyle/>
          <a:p>
            <a:pPr indent="0" marL="0">
              <a:buNone/>
            </a:pPr>
            <a:r>
              <a:rPr lang="en-US" sz="2000" b="1" dirty="0">
                <a:solidFill>
                  <a:srgbClr val="B85042"/>
                </a:solidFill>
                <a:latin typeface="Cambria" pitchFamily="34" charset="0"/>
                <a:ea typeface="Cambria" pitchFamily="34" charset="-122"/>
                <a:cs typeface="Cambria" pitchFamily="34" charset="-120"/>
              </a:rPr>
              <a:t>LLM alone</a:t>
            </a:r>
            <a:endParaRPr lang="en-US" sz="2000" dirty="0"/>
          </a:p>
        </p:txBody>
      </p:sp>
      <p:sp>
        <p:nvSpPr>
          <p:cNvPr id="6" name="Text 4"/>
          <p:cNvSpPr txBox="1"/>
          <p:nvPr/>
        </p:nvSpPr>
        <p:spPr>
          <a:xfrm>
            <a:off x="914400" y="2880360"/>
            <a:ext cx="4663440" cy="2560320"/>
          </a:xfrm>
          <a:prstGeom prst="rect">
            <a:avLst/>
          </a:prstGeom>
          <a:noFill/>
          <a:ln/>
        </p:spPr>
        <p:txBody>
          <a:bodyPr wrap="square" lIns="0" tIns="0" rIns="0" bIns="0" rtlCol="0" anchor="t"/>
          <a:lstStyle/>
          <a:p>
            <a:pPr indent="0" marL="0">
              <a:spcAft>
                <a:spcPts val="800"/>
              </a:spcAft>
              <a:buNone/>
            </a:pPr>
            <a:r>
              <a:rPr lang="en-US" sz="1500" b="1" dirty="0">
                <a:solidFill>
                  <a:srgbClr val="0E2A33"/>
                </a:solidFill>
                <a:latin typeface="Calibri" pitchFamily="34" charset="0"/>
                <a:ea typeface="Calibri" pitchFamily="34" charset="-122"/>
                <a:cs typeface="Calibri" pitchFamily="34" charset="-120"/>
              </a:rPr>
              <a:t>“What's our membership fee?”</a:t>
            </a:r>
            <a:endParaRPr lang="en-US" sz="1500" dirty="0"/>
          </a:p>
          <a:p>
            <a:pPr indent="0" marL="0">
              <a:spcAft>
                <a:spcPts val="1000"/>
              </a:spcAft>
              <a:buNone/>
            </a:pPr>
            <a:r>
              <a:rPr lang="en-US" sz="1500" i="1" dirty="0">
                <a:solidFill>
                  <a:srgbClr val="B85042"/>
                </a:solidFill>
                <a:latin typeface="Calibri" pitchFamily="34" charset="0"/>
                <a:ea typeface="Calibri" pitchFamily="34" charset="-122"/>
                <a:cs typeface="Calibri" pitchFamily="34" charset="-120"/>
              </a:rPr>
              <a:t>“It's typically around $50 per year.”</a:t>
            </a:r>
            <a:endParaRPr lang="en-US" sz="1500" dirty="0"/>
          </a:p>
          <a:p>
            <a:pPr indent="0" marL="0">
              <a:buNone/>
            </a:pPr>
            <a:r>
              <a:rPr lang="en-US" sz="1500" dirty="0">
                <a:solidFill>
                  <a:srgbClr val="5E6F73"/>
                </a:solidFill>
                <a:latin typeface="Calibri" pitchFamily="34" charset="0"/>
                <a:ea typeface="Calibri" pitchFamily="34" charset="-122"/>
                <a:cs typeface="Calibri" pitchFamily="34" charset="-120"/>
              </a:rPr>
              <a:t>Confident. Plausible. Wrong.</a:t>
            </a:r>
            <a:endParaRPr lang="en-US" sz="1500" dirty="0"/>
          </a:p>
          <a:p>
            <a:pPr indent="0" marL="0">
              <a:buNone/>
            </a:pPr>
            <a:r>
              <a:rPr lang="en-US" sz="1500" dirty="0">
                <a:solidFill>
                  <a:srgbClr val="5E6F73"/>
                </a:solidFill>
                <a:latin typeface="Calibri" pitchFamily="34" charset="0"/>
                <a:ea typeface="Calibri" pitchFamily="34" charset="-122"/>
                <a:cs typeface="Calibri" pitchFamily="34" charset="-120"/>
              </a:rPr>
              <a:t>No access to your document → hallucination.</a:t>
            </a:r>
            <a:endParaRPr lang="en-US" sz="1500" dirty="0"/>
          </a:p>
        </p:txBody>
      </p:sp>
      <p:sp>
        <p:nvSpPr>
          <p:cNvPr id="7" name="Shape 5"/>
          <p:cNvSpPr/>
          <p:nvPr/>
        </p:nvSpPr>
        <p:spPr>
          <a:xfrm>
            <a:off x="6309360" y="2103120"/>
            <a:ext cx="5212080" cy="3566160"/>
          </a:xfrm>
          <a:prstGeom prst="roundRect">
            <a:avLst>
              <a:gd name="adj" fmla="val 2308"/>
            </a:avLst>
          </a:prstGeom>
          <a:solidFill>
            <a:srgbClr val="FFFFFF"/>
          </a:solidFill>
          <a:ln w="12700">
            <a:solidFill>
              <a:srgbClr val="D5E0E1"/>
            </a:solidFill>
            <a:prstDash val="solid"/>
          </a:ln>
          <a:effectLst>
            <a:outerShdw sx="100000" sy="100000" kx="0" ky="0" algn="bl" rotWithShape="0" blurRad="101600" dist="38100" dir="5400000">
              <a:srgbClr val="9BB0B3">
                <a:alpha val="35000"/>
              </a:srgbClr>
            </a:outerShdw>
          </a:effectLst>
        </p:spPr>
      </p:sp>
      <p:sp>
        <p:nvSpPr>
          <p:cNvPr id="8" name="Text 6"/>
          <p:cNvSpPr txBox="1"/>
          <p:nvPr/>
        </p:nvSpPr>
        <p:spPr>
          <a:xfrm>
            <a:off x="6583680" y="2331720"/>
            <a:ext cx="4572000" cy="365760"/>
          </a:xfrm>
          <a:prstGeom prst="rect">
            <a:avLst/>
          </a:prstGeom>
          <a:noFill/>
          <a:ln/>
        </p:spPr>
        <p:txBody>
          <a:bodyPr wrap="square" lIns="0" tIns="0" rIns="0" bIns="0" rtlCol="0" anchor="ctr"/>
          <a:lstStyle/>
          <a:p>
            <a:pPr indent="0" marL="0">
              <a:buNone/>
            </a:pPr>
            <a:r>
              <a:rPr lang="en-US" sz="2000" b="1" dirty="0">
                <a:solidFill>
                  <a:srgbClr val="028090"/>
                </a:solidFill>
                <a:latin typeface="Cambria" pitchFamily="34" charset="0"/>
                <a:ea typeface="Cambria" pitchFamily="34" charset="-122"/>
                <a:cs typeface="Cambria" pitchFamily="34" charset="-120"/>
              </a:rPr>
              <a:t>LLM + retrieval (RAG)</a:t>
            </a:r>
            <a:endParaRPr lang="en-US" sz="2000" dirty="0"/>
          </a:p>
        </p:txBody>
      </p:sp>
      <p:sp>
        <p:nvSpPr>
          <p:cNvPr id="9" name="Text 7"/>
          <p:cNvSpPr txBox="1"/>
          <p:nvPr/>
        </p:nvSpPr>
        <p:spPr>
          <a:xfrm>
            <a:off x="6583680" y="2880360"/>
            <a:ext cx="4663440" cy="2560320"/>
          </a:xfrm>
          <a:prstGeom prst="rect">
            <a:avLst/>
          </a:prstGeom>
          <a:noFill/>
          <a:ln/>
        </p:spPr>
        <p:txBody>
          <a:bodyPr wrap="square" lIns="0" tIns="0" rIns="0" bIns="0" rtlCol="0" anchor="t"/>
          <a:lstStyle/>
          <a:p>
            <a:pPr indent="0" marL="0">
              <a:spcAft>
                <a:spcPts val="800"/>
              </a:spcAft>
              <a:buNone/>
            </a:pPr>
            <a:r>
              <a:rPr lang="en-US" sz="1500" b="1" dirty="0">
                <a:solidFill>
                  <a:srgbClr val="0E2A33"/>
                </a:solidFill>
                <a:latin typeface="Calibri" pitchFamily="34" charset="0"/>
                <a:ea typeface="Calibri" pitchFamily="34" charset="-122"/>
                <a:cs typeface="Calibri" pitchFamily="34" charset="-120"/>
              </a:rPr>
              <a:t>“What's our membership fee?”</a:t>
            </a:r>
            <a:endParaRPr lang="en-US" sz="1500" dirty="0"/>
          </a:p>
          <a:p>
            <a:pPr indent="0" marL="0">
              <a:spcAft>
                <a:spcPts val="800"/>
              </a:spcAft>
              <a:buNone/>
            </a:pPr>
            <a:r>
              <a:rPr lang="en-US" sz="1500" dirty="0">
                <a:solidFill>
                  <a:srgbClr val="00A896"/>
                </a:solidFill>
                <a:latin typeface="Calibri" pitchFamily="34" charset="0"/>
                <a:ea typeface="Calibri" pitchFamily="34" charset="-122"/>
                <a:cs typeface="Calibri" pitchFamily="34" charset="-120"/>
              </a:rPr>
              <a:t>→ retrieve the relevant handbook chunk first</a:t>
            </a:r>
            <a:endParaRPr lang="en-US" sz="1500" dirty="0"/>
          </a:p>
          <a:p>
            <a:pPr indent="0" marL="0">
              <a:spcAft>
                <a:spcPts val="1000"/>
              </a:spcAft>
              <a:buNone/>
            </a:pPr>
            <a:r>
              <a:rPr lang="en-US" sz="1500" i="1" dirty="0">
                <a:solidFill>
                  <a:srgbClr val="028090"/>
                </a:solidFill>
                <a:latin typeface="Calibri" pitchFamily="34" charset="0"/>
                <a:ea typeface="Calibri" pitchFamily="34" charset="-122"/>
                <a:cs typeface="Calibri" pitchFamily="34" charset="-120"/>
              </a:rPr>
              <a:t>“$15 per semester, per the handbook.”</a:t>
            </a:r>
            <a:endParaRPr lang="en-US" sz="1500" dirty="0"/>
          </a:p>
          <a:p>
            <a:pPr indent="0" marL="0">
              <a:buNone/>
            </a:pPr>
            <a:r>
              <a:rPr lang="en-US" sz="1500" dirty="0">
                <a:solidFill>
                  <a:srgbClr val="5E6F73"/>
                </a:solidFill>
                <a:latin typeface="Calibri" pitchFamily="34" charset="0"/>
                <a:ea typeface="Calibri" pitchFamily="34" charset="-122"/>
                <a:cs typeface="Calibri" pitchFamily="34" charset="-120"/>
              </a:rPr>
              <a:t>Grounded in your document. Cites its source.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2A33"/>
        </a:solidFill>
      </p:bgPr>
    </p:bg>
    <p:spTree>
      <p:nvGrpSpPr>
        <p:cNvPr id="1" name=""/>
        <p:cNvGrpSpPr/>
        <p:nvPr/>
      </p:nvGrpSpPr>
      <p:grpSpPr>
        <a:xfrm>
          <a:off x="0" y="0"/>
          <a:ext cx="0" cy="0"/>
          <a:chOff x="0" y="0"/>
          <a:chExt cx="0" cy="0"/>
        </a:xfrm>
      </p:grpSpPr>
      <p:sp>
        <p:nvSpPr>
          <p:cNvPr id="2" name="Text 0"/>
          <p:cNvSpPr txBox="1"/>
          <p:nvPr/>
        </p:nvSpPr>
        <p:spPr>
          <a:xfrm>
            <a:off x="640080" y="502920"/>
            <a:ext cx="10058400" cy="73152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RAG actually is</a:t>
            </a:r>
            <a:endParaRPr lang="en-US" sz="4000" dirty="0"/>
          </a:p>
        </p:txBody>
      </p:sp>
      <p:sp>
        <p:nvSpPr>
          <p:cNvPr id="3" name="Text 1"/>
          <p:cNvSpPr txBox="1"/>
          <p:nvPr/>
        </p:nvSpPr>
        <p:spPr>
          <a:xfrm>
            <a:off x="640080" y="1280160"/>
            <a:ext cx="10058400" cy="457200"/>
          </a:xfrm>
          <a:prstGeom prst="rect">
            <a:avLst/>
          </a:prstGeom>
          <a:noFill/>
          <a:ln/>
        </p:spPr>
        <p:txBody>
          <a:bodyPr wrap="square" rtlCol="0" anchor="ctr"/>
          <a:lstStyle/>
          <a:p>
            <a:pPr indent="0" marL="0">
              <a:buNone/>
            </a:pPr>
            <a:r>
              <a:rPr lang="en-US" sz="1700" dirty="0">
                <a:solidFill>
                  <a:srgbClr val="CFE6E6"/>
                </a:solidFill>
                <a:latin typeface="Calibri" pitchFamily="34" charset="0"/>
                <a:ea typeface="Calibri" pitchFamily="34" charset="-122"/>
                <a:cs typeface="Calibri" pitchFamily="34" charset="-120"/>
              </a:rPr>
              <a:t>One pipeline. Every stage is readable Python.</a:t>
            </a:r>
            <a:endParaRPr lang="en-US" sz="1700" dirty="0"/>
          </a:p>
        </p:txBody>
      </p:sp>
      <p:sp>
        <p:nvSpPr>
          <p:cNvPr id="4" name="Shape 2"/>
          <p:cNvSpPr/>
          <p:nvPr/>
        </p:nvSpPr>
        <p:spPr>
          <a:xfrm>
            <a:off x="566928" y="2377440"/>
            <a:ext cx="2084832" cy="2743200"/>
          </a:xfrm>
          <a:prstGeom prst="roundRect">
            <a:avLst>
              <a:gd name="adj" fmla="val 3509"/>
            </a:avLst>
          </a:prstGeom>
          <a:solidFill>
            <a:srgbClr val="12333D"/>
          </a:solidFill>
          <a:ln w="15875">
            <a:solidFill>
              <a:srgbClr val="028090"/>
            </a:solidFill>
            <a:prstDash val="solid"/>
          </a:ln>
        </p:spPr>
      </p:sp>
      <p:sp>
        <p:nvSpPr>
          <p:cNvPr id="5" name="Shape 3"/>
          <p:cNvSpPr/>
          <p:nvPr/>
        </p:nvSpPr>
        <p:spPr>
          <a:xfrm>
            <a:off x="1289304" y="2651760"/>
            <a:ext cx="640080" cy="640080"/>
          </a:xfrm>
          <a:prstGeom prst="ellipse">
            <a:avLst/>
          </a:prstGeom>
          <a:solidFill>
            <a:srgbClr val="02C39A"/>
          </a:solidFill>
          <a:ln/>
        </p:spPr>
      </p:sp>
      <p:sp>
        <p:nvSpPr>
          <p:cNvPr id="6" name="Text 4"/>
          <p:cNvSpPr txBox="1"/>
          <p:nvPr/>
        </p:nvSpPr>
        <p:spPr>
          <a:xfrm>
            <a:off x="1289304" y="2651760"/>
            <a:ext cx="640080" cy="640080"/>
          </a:xfrm>
          <a:prstGeom prst="rect">
            <a:avLst/>
          </a:prstGeom>
          <a:noFill/>
          <a:ln/>
        </p:spPr>
        <p:txBody>
          <a:bodyPr wrap="square" lIns="0" tIns="0" rIns="0" bIns="0" rtlCol="0" anchor="ctr"/>
          <a:lstStyle/>
          <a:p>
            <a:pPr algn="ctr" indent="0" marL="0">
              <a:buNone/>
            </a:pPr>
            <a:r>
              <a:rPr lang="en-US" sz="1600" b="1" dirty="0">
                <a:solidFill>
                  <a:srgbClr val="0E2A33"/>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566928" y="3429000"/>
            <a:ext cx="2084832"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Load</a:t>
            </a:r>
            <a:endParaRPr lang="en-US" sz="1900" dirty="0"/>
          </a:p>
        </p:txBody>
      </p:sp>
      <p:sp>
        <p:nvSpPr>
          <p:cNvPr id="8" name="Text 6"/>
          <p:cNvSpPr txBox="1"/>
          <p:nvPr/>
        </p:nvSpPr>
        <p:spPr>
          <a:xfrm>
            <a:off x="676656" y="3931920"/>
            <a:ext cx="1865376" cy="1005840"/>
          </a:xfrm>
          <a:prstGeom prst="rect">
            <a:avLst/>
          </a:prstGeom>
          <a:noFill/>
          <a:ln/>
        </p:spPr>
        <p:txBody>
          <a:bodyPr wrap="square" lIns="0" tIns="0" rIns="0" bIns="0" rtlCol="0" anchor="t"/>
          <a:lstStyle/>
          <a:p>
            <a:pPr algn="ctr" indent="0" marL="0">
              <a:buNone/>
            </a:pPr>
            <a:r>
              <a:rPr lang="en-US" sz="1300" dirty="0">
                <a:solidFill>
                  <a:srgbClr val="AECFD0"/>
                </a:solidFill>
                <a:latin typeface="Calibri" pitchFamily="34" charset="0"/>
                <a:ea typeface="Calibri" pitchFamily="34" charset="-122"/>
                <a:cs typeface="Calibri" pitchFamily="34" charset="-120"/>
              </a:rPr>
              <a:t>Extract text from the PDF</a:t>
            </a:r>
            <a:endParaRPr lang="en-US" sz="1300" dirty="0"/>
          </a:p>
        </p:txBody>
      </p:sp>
      <p:sp>
        <p:nvSpPr>
          <p:cNvPr id="9" name="Text 7"/>
          <p:cNvSpPr txBox="1"/>
          <p:nvPr/>
        </p:nvSpPr>
        <p:spPr>
          <a:xfrm>
            <a:off x="2633472" y="2377440"/>
            <a:ext cx="210312" cy="2743200"/>
          </a:xfrm>
          <a:prstGeom prst="rect">
            <a:avLst/>
          </a:prstGeom>
          <a:noFill/>
          <a:ln/>
        </p:spPr>
        <p:txBody>
          <a:bodyPr wrap="square" lIns="0" tIns="0" rIns="0" bIns="0"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2825496" y="2377440"/>
            <a:ext cx="2084832" cy="2743200"/>
          </a:xfrm>
          <a:prstGeom prst="roundRect">
            <a:avLst>
              <a:gd name="adj" fmla="val 3509"/>
            </a:avLst>
          </a:prstGeom>
          <a:solidFill>
            <a:srgbClr val="12333D"/>
          </a:solidFill>
          <a:ln w="15875">
            <a:solidFill>
              <a:srgbClr val="028090"/>
            </a:solidFill>
            <a:prstDash val="solid"/>
          </a:ln>
        </p:spPr>
      </p:sp>
      <p:sp>
        <p:nvSpPr>
          <p:cNvPr id="11" name="Shape 9"/>
          <p:cNvSpPr/>
          <p:nvPr/>
        </p:nvSpPr>
        <p:spPr>
          <a:xfrm>
            <a:off x="3547872" y="2651760"/>
            <a:ext cx="640080" cy="640080"/>
          </a:xfrm>
          <a:prstGeom prst="ellipse">
            <a:avLst/>
          </a:prstGeom>
          <a:solidFill>
            <a:srgbClr val="02C39A"/>
          </a:solidFill>
          <a:ln/>
        </p:spPr>
      </p:sp>
      <p:sp>
        <p:nvSpPr>
          <p:cNvPr id="12" name="Text 10"/>
          <p:cNvSpPr txBox="1"/>
          <p:nvPr/>
        </p:nvSpPr>
        <p:spPr>
          <a:xfrm>
            <a:off x="3547872" y="2651760"/>
            <a:ext cx="640080" cy="640080"/>
          </a:xfrm>
          <a:prstGeom prst="rect">
            <a:avLst/>
          </a:prstGeom>
          <a:noFill/>
          <a:ln/>
        </p:spPr>
        <p:txBody>
          <a:bodyPr wrap="square" lIns="0" tIns="0" rIns="0" bIns="0" rtlCol="0" anchor="ctr"/>
          <a:lstStyle/>
          <a:p>
            <a:pPr algn="ctr" indent="0" marL="0">
              <a:buNone/>
            </a:pPr>
            <a:r>
              <a:rPr lang="en-US" sz="1600" b="1" dirty="0">
                <a:solidFill>
                  <a:srgbClr val="0E2A33"/>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2825496" y="3429000"/>
            <a:ext cx="2084832"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Chunk</a:t>
            </a:r>
            <a:endParaRPr lang="en-US" sz="1900" dirty="0"/>
          </a:p>
        </p:txBody>
      </p:sp>
      <p:sp>
        <p:nvSpPr>
          <p:cNvPr id="14" name="Text 12"/>
          <p:cNvSpPr txBox="1"/>
          <p:nvPr/>
        </p:nvSpPr>
        <p:spPr>
          <a:xfrm>
            <a:off x="2935224" y="3931920"/>
            <a:ext cx="1865376" cy="1005840"/>
          </a:xfrm>
          <a:prstGeom prst="rect">
            <a:avLst/>
          </a:prstGeom>
          <a:noFill/>
          <a:ln/>
        </p:spPr>
        <p:txBody>
          <a:bodyPr wrap="square" lIns="0" tIns="0" rIns="0" bIns="0" rtlCol="0" anchor="t"/>
          <a:lstStyle/>
          <a:p>
            <a:pPr algn="ctr" indent="0" marL="0">
              <a:buNone/>
            </a:pPr>
            <a:r>
              <a:rPr lang="en-US" sz="1300" dirty="0">
                <a:solidFill>
                  <a:srgbClr val="AECFD0"/>
                </a:solidFill>
                <a:latin typeface="Calibri" pitchFamily="34" charset="0"/>
                <a:ea typeface="Calibri" pitchFamily="34" charset="-122"/>
                <a:cs typeface="Calibri" pitchFamily="34" charset="-120"/>
              </a:rPr>
              <a:t>Split into overlapping pieces</a:t>
            </a:r>
            <a:endParaRPr lang="en-US" sz="1300" dirty="0"/>
          </a:p>
        </p:txBody>
      </p:sp>
      <p:sp>
        <p:nvSpPr>
          <p:cNvPr id="15" name="Text 13"/>
          <p:cNvSpPr txBox="1"/>
          <p:nvPr/>
        </p:nvSpPr>
        <p:spPr>
          <a:xfrm>
            <a:off x="4892040" y="2377440"/>
            <a:ext cx="210312" cy="2743200"/>
          </a:xfrm>
          <a:prstGeom prst="rect">
            <a:avLst/>
          </a:prstGeom>
          <a:noFill/>
          <a:ln/>
        </p:spPr>
        <p:txBody>
          <a:bodyPr wrap="square" lIns="0" tIns="0" rIns="0" bIns="0"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5084064" y="2377440"/>
            <a:ext cx="2084832" cy="2743200"/>
          </a:xfrm>
          <a:prstGeom prst="roundRect">
            <a:avLst>
              <a:gd name="adj" fmla="val 3509"/>
            </a:avLst>
          </a:prstGeom>
          <a:solidFill>
            <a:srgbClr val="12333D"/>
          </a:solidFill>
          <a:ln w="15875">
            <a:solidFill>
              <a:srgbClr val="028090"/>
            </a:solidFill>
            <a:prstDash val="solid"/>
          </a:ln>
        </p:spPr>
      </p:sp>
      <p:sp>
        <p:nvSpPr>
          <p:cNvPr id="17" name="Shape 15"/>
          <p:cNvSpPr/>
          <p:nvPr/>
        </p:nvSpPr>
        <p:spPr>
          <a:xfrm>
            <a:off x="5806440" y="2651760"/>
            <a:ext cx="640080" cy="640080"/>
          </a:xfrm>
          <a:prstGeom prst="ellipse">
            <a:avLst/>
          </a:prstGeom>
          <a:solidFill>
            <a:srgbClr val="02C39A"/>
          </a:solidFill>
          <a:ln/>
        </p:spPr>
      </p:sp>
      <p:sp>
        <p:nvSpPr>
          <p:cNvPr id="18" name="Text 16"/>
          <p:cNvSpPr txBox="1"/>
          <p:nvPr/>
        </p:nvSpPr>
        <p:spPr>
          <a:xfrm>
            <a:off x="5806440" y="2651760"/>
            <a:ext cx="640080" cy="640080"/>
          </a:xfrm>
          <a:prstGeom prst="rect">
            <a:avLst/>
          </a:prstGeom>
          <a:noFill/>
          <a:ln/>
        </p:spPr>
        <p:txBody>
          <a:bodyPr wrap="square" lIns="0" tIns="0" rIns="0" bIns="0" rtlCol="0" anchor="ctr"/>
          <a:lstStyle/>
          <a:p>
            <a:pPr algn="ctr" indent="0" marL="0">
              <a:buNone/>
            </a:pPr>
            <a:r>
              <a:rPr lang="en-US" sz="1600" b="1" dirty="0">
                <a:solidFill>
                  <a:srgbClr val="0E2A33"/>
                </a:solidFill>
                <a:latin typeface="Cambria" pitchFamily="34" charset="0"/>
                <a:ea typeface="Cambria" pitchFamily="34" charset="-122"/>
                <a:cs typeface="Cambria" pitchFamily="34" charset="-120"/>
              </a:rPr>
              <a:t>3</a:t>
            </a:r>
            <a:endParaRPr lang="en-US" sz="1600" dirty="0"/>
          </a:p>
        </p:txBody>
      </p:sp>
      <p:sp>
        <p:nvSpPr>
          <p:cNvPr id="19" name="Text 17"/>
          <p:cNvSpPr txBox="1"/>
          <p:nvPr/>
        </p:nvSpPr>
        <p:spPr>
          <a:xfrm>
            <a:off x="5084064" y="3429000"/>
            <a:ext cx="2084832"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Embed</a:t>
            </a:r>
            <a:endParaRPr lang="en-US" sz="1900" dirty="0"/>
          </a:p>
        </p:txBody>
      </p:sp>
      <p:sp>
        <p:nvSpPr>
          <p:cNvPr id="20" name="Text 18"/>
          <p:cNvSpPr txBox="1"/>
          <p:nvPr/>
        </p:nvSpPr>
        <p:spPr>
          <a:xfrm>
            <a:off x="5193792" y="3931920"/>
            <a:ext cx="1865376" cy="1005840"/>
          </a:xfrm>
          <a:prstGeom prst="rect">
            <a:avLst/>
          </a:prstGeom>
          <a:noFill/>
          <a:ln/>
        </p:spPr>
        <p:txBody>
          <a:bodyPr wrap="square" lIns="0" tIns="0" rIns="0" bIns="0" rtlCol="0" anchor="t"/>
          <a:lstStyle/>
          <a:p>
            <a:pPr algn="ctr" indent="0" marL="0">
              <a:buNone/>
            </a:pPr>
            <a:r>
              <a:rPr lang="en-US" sz="1300" dirty="0">
                <a:solidFill>
                  <a:srgbClr val="AECFD0"/>
                </a:solidFill>
                <a:latin typeface="Calibri" pitchFamily="34" charset="0"/>
                <a:ea typeface="Calibri" pitchFamily="34" charset="-122"/>
                <a:cs typeface="Calibri" pitchFamily="34" charset="-120"/>
              </a:rPr>
              <a:t>Turn chunks into vectors</a:t>
            </a:r>
            <a:endParaRPr lang="en-US" sz="1300" dirty="0"/>
          </a:p>
        </p:txBody>
      </p:sp>
      <p:sp>
        <p:nvSpPr>
          <p:cNvPr id="21" name="Text 19"/>
          <p:cNvSpPr txBox="1"/>
          <p:nvPr/>
        </p:nvSpPr>
        <p:spPr>
          <a:xfrm>
            <a:off x="7150608" y="2377440"/>
            <a:ext cx="210312" cy="2743200"/>
          </a:xfrm>
          <a:prstGeom prst="rect">
            <a:avLst/>
          </a:prstGeom>
          <a:noFill/>
          <a:ln/>
        </p:spPr>
        <p:txBody>
          <a:bodyPr wrap="square" lIns="0" tIns="0" rIns="0" bIns="0"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7342632" y="2377440"/>
            <a:ext cx="2084832" cy="2743200"/>
          </a:xfrm>
          <a:prstGeom prst="roundRect">
            <a:avLst>
              <a:gd name="adj" fmla="val 3509"/>
            </a:avLst>
          </a:prstGeom>
          <a:solidFill>
            <a:srgbClr val="12333D"/>
          </a:solidFill>
          <a:ln w="15875">
            <a:solidFill>
              <a:srgbClr val="028090"/>
            </a:solidFill>
            <a:prstDash val="solid"/>
          </a:ln>
        </p:spPr>
      </p:sp>
      <p:sp>
        <p:nvSpPr>
          <p:cNvPr id="23" name="Shape 21"/>
          <p:cNvSpPr/>
          <p:nvPr/>
        </p:nvSpPr>
        <p:spPr>
          <a:xfrm>
            <a:off x="8065008" y="2651760"/>
            <a:ext cx="640080" cy="640080"/>
          </a:xfrm>
          <a:prstGeom prst="ellipse">
            <a:avLst/>
          </a:prstGeom>
          <a:solidFill>
            <a:srgbClr val="02C39A"/>
          </a:solidFill>
          <a:ln/>
        </p:spPr>
      </p:sp>
      <p:sp>
        <p:nvSpPr>
          <p:cNvPr id="24" name="Text 22"/>
          <p:cNvSpPr txBox="1"/>
          <p:nvPr/>
        </p:nvSpPr>
        <p:spPr>
          <a:xfrm>
            <a:off x="8065008" y="2651760"/>
            <a:ext cx="640080" cy="640080"/>
          </a:xfrm>
          <a:prstGeom prst="rect">
            <a:avLst/>
          </a:prstGeom>
          <a:noFill/>
          <a:ln/>
        </p:spPr>
        <p:txBody>
          <a:bodyPr wrap="square" lIns="0" tIns="0" rIns="0" bIns="0" rtlCol="0" anchor="ctr"/>
          <a:lstStyle/>
          <a:p>
            <a:pPr algn="ctr" indent="0" marL="0">
              <a:buNone/>
            </a:pPr>
            <a:r>
              <a:rPr lang="en-US" sz="1600" b="1" dirty="0">
                <a:solidFill>
                  <a:srgbClr val="0E2A33"/>
                </a:solidFill>
                <a:latin typeface="Cambria" pitchFamily="34" charset="0"/>
                <a:ea typeface="Cambria" pitchFamily="34" charset="-122"/>
                <a:cs typeface="Cambria" pitchFamily="34" charset="-120"/>
              </a:rPr>
              <a:t>4</a:t>
            </a:r>
            <a:endParaRPr lang="en-US" sz="1600" dirty="0"/>
          </a:p>
        </p:txBody>
      </p:sp>
      <p:sp>
        <p:nvSpPr>
          <p:cNvPr id="25" name="Text 23"/>
          <p:cNvSpPr txBox="1"/>
          <p:nvPr/>
        </p:nvSpPr>
        <p:spPr>
          <a:xfrm>
            <a:off x="7342632" y="3429000"/>
            <a:ext cx="2084832"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Retrieve</a:t>
            </a:r>
            <a:endParaRPr lang="en-US" sz="1900" dirty="0"/>
          </a:p>
        </p:txBody>
      </p:sp>
      <p:sp>
        <p:nvSpPr>
          <p:cNvPr id="26" name="Text 24"/>
          <p:cNvSpPr txBox="1"/>
          <p:nvPr/>
        </p:nvSpPr>
        <p:spPr>
          <a:xfrm>
            <a:off x="7452360" y="3931920"/>
            <a:ext cx="1865376" cy="1005840"/>
          </a:xfrm>
          <a:prstGeom prst="rect">
            <a:avLst/>
          </a:prstGeom>
          <a:noFill/>
          <a:ln/>
        </p:spPr>
        <p:txBody>
          <a:bodyPr wrap="square" lIns="0" tIns="0" rIns="0" bIns="0" rtlCol="0" anchor="t"/>
          <a:lstStyle/>
          <a:p>
            <a:pPr algn="ctr" indent="0" marL="0">
              <a:buNone/>
            </a:pPr>
            <a:r>
              <a:rPr lang="en-US" sz="1300" dirty="0">
                <a:solidFill>
                  <a:srgbClr val="AECFD0"/>
                </a:solidFill>
                <a:latin typeface="Calibri" pitchFamily="34" charset="0"/>
                <a:ea typeface="Calibri" pitchFamily="34" charset="-122"/>
                <a:cs typeface="Calibri" pitchFamily="34" charset="-120"/>
              </a:rPr>
              <a:t>Cosine similarity → top-k</a:t>
            </a:r>
            <a:endParaRPr lang="en-US" sz="1300" dirty="0"/>
          </a:p>
        </p:txBody>
      </p:sp>
      <p:sp>
        <p:nvSpPr>
          <p:cNvPr id="27" name="Text 25"/>
          <p:cNvSpPr txBox="1"/>
          <p:nvPr/>
        </p:nvSpPr>
        <p:spPr>
          <a:xfrm>
            <a:off x="9409176" y="2377440"/>
            <a:ext cx="210312" cy="2743200"/>
          </a:xfrm>
          <a:prstGeom prst="rect">
            <a:avLst/>
          </a:prstGeom>
          <a:noFill/>
          <a:ln/>
        </p:spPr>
        <p:txBody>
          <a:bodyPr wrap="square" lIns="0" tIns="0" rIns="0" bIns="0"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a:t>
            </a:r>
            <a:endParaRPr lang="en-US" sz="2000" dirty="0"/>
          </a:p>
        </p:txBody>
      </p:sp>
      <p:sp>
        <p:nvSpPr>
          <p:cNvPr id="28" name="Shape 26"/>
          <p:cNvSpPr/>
          <p:nvPr/>
        </p:nvSpPr>
        <p:spPr>
          <a:xfrm>
            <a:off x="9601200" y="2377440"/>
            <a:ext cx="2084832" cy="2743200"/>
          </a:xfrm>
          <a:prstGeom prst="roundRect">
            <a:avLst>
              <a:gd name="adj" fmla="val 3509"/>
            </a:avLst>
          </a:prstGeom>
          <a:solidFill>
            <a:srgbClr val="12333D"/>
          </a:solidFill>
          <a:ln w="15875">
            <a:solidFill>
              <a:srgbClr val="028090"/>
            </a:solidFill>
            <a:prstDash val="solid"/>
          </a:ln>
        </p:spPr>
      </p:sp>
      <p:sp>
        <p:nvSpPr>
          <p:cNvPr id="29" name="Shape 27"/>
          <p:cNvSpPr/>
          <p:nvPr/>
        </p:nvSpPr>
        <p:spPr>
          <a:xfrm>
            <a:off x="10323576" y="2651760"/>
            <a:ext cx="640080" cy="640080"/>
          </a:xfrm>
          <a:prstGeom prst="ellipse">
            <a:avLst/>
          </a:prstGeom>
          <a:solidFill>
            <a:srgbClr val="02C39A"/>
          </a:solidFill>
          <a:ln/>
        </p:spPr>
      </p:sp>
      <p:sp>
        <p:nvSpPr>
          <p:cNvPr id="30" name="Text 28"/>
          <p:cNvSpPr txBox="1"/>
          <p:nvPr/>
        </p:nvSpPr>
        <p:spPr>
          <a:xfrm>
            <a:off x="10323576" y="2651760"/>
            <a:ext cx="640080" cy="640080"/>
          </a:xfrm>
          <a:prstGeom prst="rect">
            <a:avLst/>
          </a:prstGeom>
          <a:noFill/>
          <a:ln/>
        </p:spPr>
        <p:txBody>
          <a:bodyPr wrap="square" lIns="0" tIns="0" rIns="0" bIns="0" rtlCol="0" anchor="ctr"/>
          <a:lstStyle/>
          <a:p>
            <a:pPr algn="ctr" indent="0" marL="0">
              <a:buNone/>
            </a:pPr>
            <a:r>
              <a:rPr lang="en-US" sz="1600" b="1" dirty="0">
                <a:solidFill>
                  <a:srgbClr val="0E2A33"/>
                </a:solidFill>
                <a:latin typeface="Cambria" pitchFamily="34" charset="0"/>
                <a:ea typeface="Cambria" pitchFamily="34" charset="-122"/>
                <a:cs typeface="Cambria" pitchFamily="34" charset="-120"/>
              </a:rPr>
              <a:t>5</a:t>
            </a:r>
            <a:endParaRPr lang="en-US" sz="1600" dirty="0"/>
          </a:p>
        </p:txBody>
      </p:sp>
      <p:sp>
        <p:nvSpPr>
          <p:cNvPr id="31" name="Text 29"/>
          <p:cNvSpPr txBox="1"/>
          <p:nvPr/>
        </p:nvSpPr>
        <p:spPr>
          <a:xfrm>
            <a:off x="9601200" y="3429000"/>
            <a:ext cx="2084832"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Generate</a:t>
            </a:r>
            <a:endParaRPr lang="en-US" sz="1900" dirty="0"/>
          </a:p>
        </p:txBody>
      </p:sp>
      <p:sp>
        <p:nvSpPr>
          <p:cNvPr id="32" name="Text 30"/>
          <p:cNvSpPr txBox="1"/>
          <p:nvPr/>
        </p:nvSpPr>
        <p:spPr>
          <a:xfrm>
            <a:off x="9710928" y="3931920"/>
            <a:ext cx="1865376" cy="1005840"/>
          </a:xfrm>
          <a:prstGeom prst="rect">
            <a:avLst/>
          </a:prstGeom>
          <a:noFill/>
          <a:ln/>
        </p:spPr>
        <p:txBody>
          <a:bodyPr wrap="square" lIns="0" tIns="0" rIns="0" bIns="0" rtlCol="0" anchor="t"/>
          <a:lstStyle/>
          <a:p>
            <a:pPr algn="ctr" indent="0" marL="0">
              <a:buNone/>
            </a:pPr>
            <a:r>
              <a:rPr lang="en-US" sz="1300" dirty="0">
                <a:solidFill>
                  <a:srgbClr val="AECFD0"/>
                </a:solidFill>
                <a:latin typeface="Calibri" pitchFamily="34" charset="0"/>
                <a:ea typeface="Calibri" pitchFamily="34" charset="-122"/>
                <a:cs typeface="Calibri" pitchFamily="34" charset="-120"/>
              </a:rPr>
              <a:t>LLM answers from context</a:t>
            </a:r>
            <a:endParaRPr lang="en-US" sz="1300" dirty="0"/>
          </a:p>
        </p:txBody>
      </p:sp>
      <p:sp>
        <p:nvSpPr>
          <p:cNvPr id="33" name="Text 31"/>
          <p:cNvSpPr txBox="1"/>
          <p:nvPr/>
        </p:nvSpPr>
        <p:spPr>
          <a:xfrm>
            <a:off x="640080" y="5532120"/>
            <a:ext cx="10972800" cy="457200"/>
          </a:xfrm>
          <a:prstGeom prst="rect">
            <a:avLst/>
          </a:prstGeom>
          <a:noFill/>
          <a:ln/>
        </p:spPr>
        <p:txBody>
          <a:bodyPr wrap="square" rtlCol="0" anchor="ctr"/>
          <a:lstStyle/>
          <a:p>
            <a:pPr algn="ctr" indent="0" marL="0">
              <a:buNone/>
            </a:pPr>
            <a:r>
              <a:rPr lang="en-US" sz="1500" i="1" dirty="0">
                <a:solidFill>
                  <a:srgbClr val="02C39A"/>
                </a:solidFill>
                <a:latin typeface="Calibri" pitchFamily="34" charset="0"/>
                <a:ea typeface="Calibri" pitchFamily="34" charset="-122"/>
                <a:cs typeface="Calibri" pitchFamily="34" charset="-120"/>
              </a:rPr>
              <a:t>Sources + similarity scores + latency travel with the answer the whole way.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640080" y="457200"/>
            <a:ext cx="8229600" cy="731520"/>
          </a:xfrm>
          <a:prstGeom prst="rect">
            <a:avLst/>
          </a:prstGeom>
          <a:noFill/>
          <a:ln/>
        </p:spPr>
        <p:txBody>
          <a:bodyPr wrap="square" rtlCol="0" anchor="ctr"/>
          <a:lstStyle/>
          <a:p>
            <a:pPr indent="0" marL="0">
              <a:buNone/>
            </a:pPr>
            <a:r>
              <a:rPr lang="en-US" sz="4000" b="1" dirty="0">
                <a:solidFill>
                  <a:srgbClr val="0E2A33"/>
                </a:solidFill>
                <a:latin typeface="Cambria" pitchFamily="34" charset="0"/>
                <a:ea typeface="Cambria" pitchFamily="34" charset="-122"/>
                <a:cs typeface="Cambria" pitchFamily="34" charset="-120"/>
              </a:rPr>
              <a:t>Today's stack</a:t>
            </a:r>
            <a:endParaRPr lang="en-US" sz="4000" dirty="0"/>
          </a:p>
        </p:txBody>
      </p:sp>
      <p:sp>
        <p:nvSpPr>
          <p:cNvPr id="3" name="Text 1"/>
          <p:cNvSpPr txBox="1"/>
          <p:nvPr/>
        </p:nvSpPr>
        <p:spPr>
          <a:xfrm>
            <a:off x="640080" y="1234440"/>
            <a:ext cx="10515600" cy="457200"/>
          </a:xfrm>
          <a:prstGeom prst="rect">
            <a:avLst/>
          </a:prstGeom>
          <a:noFill/>
          <a:ln/>
        </p:spPr>
        <p:txBody>
          <a:bodyPr wrap="square" rtlCol="0" anchor="ctr"/>
          <a:lstStyle/>
          <a:p>
            <a:pPr indent="0" marL="0">
              <a:buNone/>
            </a:pPr>
            <a:r>
              <a:rPr lang="en-US" sz="1600" dirty="0">
                <a:solidFill>
                  <a:srgbClr val="5E6F73"/>
                </a:solidFill>
                <a:latin typeface="Calibri" pitchFamily="34" charset="0"/>
                <a:ea typeface="Calibri" pitchFamily="34" charset="-122"/>
                <a:cs typeface="Calibri" pitchFamily="34" charset="-120"/>
              </a:rPr>
              <a:t>Deliberately small. Everything here you could read in an afternoon.</a:t>
            </a:r>
            <a:endParaRPr lang="en-US" sz="1600" dirty="0"/>
          </a:p>
        </p:txBody>
      </p:sp>
      <p:sp>
        <p:nvSpPr>
          <p:cNvPr id="4" name="Shape 2"/>
          <p:cNvSpPr/>
          <p:nvPr/>
        </p:nvSpPr>
        <p:spPr>
          <a:xfrm>
            <a:off x="640080" y="2011680"/>
            <a:ext cx="3474720" cy="1645920"/>
          </a:xfrm>
          <a:prstGeom prst="roundRect">
            <a:avLst>
              <a:gd name="adj" fmla="val 5000"/>
            </a:avLst>
          </a:prstGeom>
          <a:solidFill>
            <a:srgbClr val="FFFFFF"/>
          </a:solidFill>
          <a:ln w="12700">
            <a:solidFill>
              <a:srgbClr val="D5E0E1"/>
            </a:solidFill>
            <a:prstDash val="solid"/>
          </a:ln>
          <a:effectLst>
            <a:outerShdw sx="100000" sy="100000" kx="0" ky="0" algn="bl" rotWithShape="0" blurRad="101600" dist="38100" dir="5400000">
              <a:srgbClr val="9BB0B3">
                <a:alpha val="35000"/>
              </a:srgbClr>
            </a:outerShdw>
          </a:effectLst>
        </p:spPr>
      </p:sp>
      <p:sp>
        <p:nvSpPr>
          <p:cNvPr id="5" name="Shape 3"/>
          <p:cNvSpPr/>
          <p:nvPr/>
        </p:nvSpPr>
        <p:spPr>
          <a:xfrm>
            <a:off x="914400" y="2304288"/>
            <a:ext cx="548640" cy="548640"/>
          </a:xfrm>
          <a:prstGeom prst="ellipse">
            <a:avLst/>
          </a:prstGeom>
          <a:solidFill>
            <a:srgbClr val="028090"/>
          </a:solidFill>
          <a:ln/>
        </p:spPr>
      </p:sp>
      <p:sp>
        <p:nvSpPr>
          <p:cNvPr id="6" name="Text 4"/>
          <p:cNvSpPr txBox="1"/>
          <p:nvPr/>
        </p:nvSpPr>
        <p:spPr>
          <a:xfrm>
            <a:off x="914400" y="230428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a:t>
            </a:r>
            <a:endParaRPr lang="en-US" sz="1600" dirty="0"/>
          </a:p>
        </p:txBody>
      </p:sp>
      <p:sp>
        <p:nvSpPr>
          <p:cNvPr id="7" name="Text 5"/>
          <p:cNvSpPr txBox="1"/>
          <p:nvPr/>
        </p:nvSpPr>
        <p:spPr>
          <a:xfrm>
            <a:off x="1600200" y="2267712"/>
            <a:ext cx="2377440" cy="640080"/>
          </a:xfrm>
          <a:prstGeom prst="rect">
            <a:avLst/>
          </a:prstGeom>
          <a:noFill/>
          <a:ln/>
        </p:spPr>
        <p:txBody>
          <a:bodyPr wrap="square" lIns="0" tIns="0" rIns="0" bIns="0" rtlCol="0" anchor="ctr"/>
          <a:lstStyle/>
          <a:p>
            <a:pPr indent="0" marL="0">
              <a:buNone/>
            </a:pPr>
            <a:r>
              <a:rPr lang="en-US" sz="1600" b="1" dirty="0">
                <a:solidFill>
                  <a:srgbClr val="0E2A33"/>
                </a:solidFill>
                <a:latin typeface="Cambria" pitchFamily="34" charset="0"/>
                <a:ea typeface="Cambria" pitchFamily="34" charset="-122"/>
                <a:cs typeface="Cambria" pitchFamily="34" charset="-120"/>
              </a:rPr>
              <a:t>PyMuPDF</a:t>
            </a:r>
            <a:endParaRPr lang="en-US" sz="1600" dirty="0"/>
          </a:p>
        </p:txBody>
      </p:sp>
      <p:sp>
        <p:nvSpPr>
          <p:cNvPr id="8" name="Text 6"/>
          <p:cNvSpPr txBox="1"/>
          <p:nvPr/>
        </p:nvSpPr>
        <p:spPr>
          <a:xfrm>
            <a:off x="914400" y="2971800"/>
            <a:ext cx="2926080" cy="548640"/>
          </a:xfrm>
          <a:prstGeom prst="rect">
            <a:avLst/>
          </a:prstGeom>
          <a:noFill/>
          <a:ln/>
        </p:spPr>
        <p:txBody>
          <a:bodyPr wrap="square" lIns="0" tIns="0" rIns="0" bIns="0" rtlCol="0" anchor="ctr"/>
          <a:lstStyle/>
          <a:p>
            <a:pPr indent="0" marL="0">
              <a:buNone/>
            </a:pPr>
            <a:r>
              <a:rPr lang="en-US" sz="1300" dirty="0">
                <a:solidFill>
                  <a:srgbClr val="5E6F73"/>
                </a:solidFill>
                <a:latin typeface="Calibri" pitchFamily="34" charset="0"/>
                <a:ea typeface="Calibri" pitchFamily="34" charset="-122"/>
                <a:cs typeface="Calibri" pitchFamily="34" charset="-120"/>
              </a:rPr>
              <a:t>Pull text out of the PDF</a:t>
            </a:r>
            <a:endParaRPr lang="en-US" sz="1300" dirty="0"/>
          </a:p>
        </p:txBody>
      </p:sp>
      <p:sp>
        <p:nvSpPr>
          <p:cNvPr id="9" name="Shape 7"/>
          <p:cNvSpPr/>
          <p:nvPr/>
        </p:nvSpPr>
        <p:spPr>
          <a:xfrm>
            <a:off x="4389120" y="2011680"/>
            <a:ext cx="3474720" cy="1645920"/>
          </a:xfrm>
          <a:prstGeom prst="roundRect">
            <a:avLst>
              <a:gd name="adj" fmla="val 5000"/>
            </a:avLst>
          </a:prstGeom>
          <a:solidFill>
            <a:srgbClr val="FFFFFF"/>
          </a:solidFill>
          <a:ln w="12700">
            <a:solidFill>
              <a:srgbClr val="D5E0E1"/>
            </a:solidFill>
            <a:prstDash val="solid"/>
          </a:ln>
          <a:effectLst>
            <a:outerShdw sx="100000" sy="100000" kx="0" ky="0" algn="bl" rotWithShape="0" blurRad="101600" dist="38100" dir="5400000">
              <a:srgbClr val="9BB0B3">
                <a:alpha val="35000"/>
              </a:srgbClr>
            </a:outerShdw>
          </a:effectLst>
        </p:spPr>
      </p:sp>
      <p:sp>
        <p:nvSpPr>
          <p:cNvPr id="10" name="Shape 8"/>
          <p:cNvSpPr/>
          <p:nvPr/>
        </p:nvSpPr>
        <p:spPr>
          <a:xfrm>
            <a:off x="4663440" y="2304288"/>
            <a:ext cx="548640" cy="548640"/>
          </a:xfrm>
          <a:prstGeom prst="ellipse">
            <a:avLst/>
          </a:prstGeom>
          <a:solidFill>
            <a:srgbClr val="028090"/>
          </a:solidFill>
          <a:ln/>
        </p:spPr>
      </p:sp>
      <p:sp>
        <p:nvSpPr>
          <p:cNvPr id="11" name="Text 9"/>
          <p:cNvSpPr txBox="1"/>
          <p:nvPr/>
        </p:nvSpPr>
        <p:spPr>
          <a:xfrm>
            <a:off x="4663440" y="230428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B</a:t>
            </a:r>
            <a:endParaRPr lang="en-US" sz="1600" dirty="0"/>
          </a:p>
        </p:txBody>
      </p:sp>
      <p:sp>
        <p:nvSpPr>
          <p:cNvPr id="12" name="Text 10"/>
          <p:cNvSpPr txBox="1"/>
          <p:nvPr/>
        </p:nvSpPr>
        <p:spPr>
          <a:xfrm>
            <a:off x="5349240" y="2267712"/>
            <a:ext cx="2377440" cy="640080"/>
          </a:xfrm>
          <a:prstGeom prst="rect">
            <a:avLst/>
          </a:prstGeom>
          <a:noFill/>
          <a:ln/>
        </p:spPr>
        <p:txBody>
          <a:bodyPr wrap="square" lIns="0" tIns="0" rIns="0" bIns="0" rtlCol="0" anchor="ctr"/>
          <a:lstStyle/>
          <a:p>
            <a:pPr indent="0" marL="0">
              <a:buNone/>
            </a:pPr>
            <a:r>
              <a:rPr lang="en-US" sz="1600" b="1" dirty="0">
                <a:solidFill>
                  <a:srgbClr val="0E2A33"/>
                </a:solidFill>
                <a:latin typeface="Cambria" pitchFamily="34" charset="0"/>
                <a:ea typeface="Cambria" pitchFamily="34" charset="-122"/>
                <a:cs typeface="Cambria" pitchFamily="34" charset="-120"/>
              </a:rPr>
              <a:t>Sentence Transformers</a:t>
            </a:r>
            <a:endParaRPr lang="en-US" sz="1600" dirty="0"/>
          </a:p>
        </p:txBody>
      </p:sp>
      <p:sp>
        <p:nvSpPr>
          <p:cNvPr id="13" name="Text 11"/>
          <p:cNvSpPr txBox="1"/>
          <p:nvPr/>
        </p:nvSpPr>
        <p:spPr>
          <a:xfrm>
            <a:off x="4663440" y="2971800"/>
            <a:ext cx="2926080" cy="548640"/>
          </a:xfrm>
          <a:prstGeom prst="rect">
            <a:avLst/>
          </a:prstGeom>
          <a:noFill/>
          <a:ln/>
        </p:spPr>
        <p:txBody>
          <a:bodyPr wrap="square" lIns="0" tIns="0" rIns="0" bIns="0" rtlCol="0" anchor="ctr"/>
          <a:lstStyle/>
          <a:p>
            <a:pPr indent="0" marL="0">
              <a:buNone/>
            </a:pPr>
            <a:r>
              <a:rPr lang="en-US" sz="1300" dirty="0">
                <a:solidFill>
                  <a:srgbClr val="5E6F73"/>
                </a:solidFill>
                <a:latin typeface="Calibri" pitchFamily="34" charset="0"/>
                <a:ea typeface="Calibri" pitchFamily="34" charset="-122"/>
                <a:cs typeface="Calibri" pitchFamily="34" charset="-120"/>
              </a:rPr>
              <a:t>all-MiniLM-L6-v2 embeddings</a:t>
            </a:r>
            <a:endParaRPr lang="en-US" sz="1300" dirty="0"/>
          </a:p>
        </p:txBody>
      </p:sp>
      <p:sp>
        <p:nvSpPr>
          <p:cNvPr id="14" name="Shape 12"/>
          <p:cNvSpPr/>
          <p:nvPr/>
        </p:nvSpPr>
        <p:spPr>
          <a:xfrm>
            <a:off x="8138160" y="2011680"/>
            <a:ext cx="3474720" cy="1645920"/>
          </a:xfrm>
          <a:prstGeom prst="roundRect">
            <a:avLst>
              <a:gd name="adj" fmla="val 5000"/>
            </a:avLst>
          </a:prstGeom>
          <a:solidFill>
            <a:srgbClr val="FFFFFF"/>
          </a:solidFill>
          <a:ln w="12700">
            <a:solidFill>
              <a:srgbClr val="D5E0E1"/>
            </a:solidFill>
            <a:prstDash val="solid"/>
          </a:ln>
          <a:effectLst>
            <a:outerShdw sx="100000" sy="100000" kx="0" ky="0" algn="bl" rotWithShape="0" blurRad="101600" dist="38100" dir="5400000">
              <a:srgbClr val="9BB0B3">
                <a:alpha val="35000"/>
              </a:srgbClr>
            </a:outerShdw>
          </a:effectLst>
        </p:spPr>
      </p:sp>
      <p:sp>
        <p:nvSpPr>
          <p:cNvPr id="15" name="Shape 13"/>
          <p:cNvSpPr/>
          <p:nvPr/>
        </p:nvSpPr>
        <p:spPr>
          <a:xfrm>
            <a:off x="8412480" y="2304288"/>
            <a:ext cx="548640" cy="548640"/>
          </a:xfrm>
          <a:prstGeom prst="ellipse">
            <a:avLst/>
          </a:prstGeom>
          <a:solidFill>
            <a:srgbClr val="028090"/>
          </a:solidFill>
          <a:ln/>
        </p:spPr>
      </p:sp>
      <p:sp>
        <p:nvSpPr>
          <p:cNvPr id="16" name="Text 14"/>
          <p:cNvSpPr txBox="1"/>
          <p:nvPr/>
        </p:nvSpPr>
        <p:spPr>
          <a:xfrm>
            <a:off x="8412480" y="230428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a:t>
            </a:r>
            <a:endParaRPr lang="en-US" sz="1600" dirty="0"/>
          </a:p>
        </p:txBody>
      </p:sp>
      <p:sp>
        <p:nvSpPr>
          <p:cNvPr id="17" name="Text 15"/>
          <p:cNvSpPr txBox="1"/>
          <p:nvPr/>
        </p:nvSpPr>
        <p:spPr>
          <a:xfrm>
            <a:off x="9098280" y="2267712"/>
            <a:ext cx="2377440" cy="640080"/>
          </a:xfrm>
          <a:prstGeom prst="rect">
            <a:avLst/>
          </a:prstGeom>
          <a:noFill/>
          <a:ln/>
        </p:spPr>
        <p:txBody>
          <a:bodyPr wrap="square" lIns="0" tIns="0" rIns="0" bIns="0" rtlCol="0" anchor="ctr"/>
          <a:lstStyle/>
          <a:p>
            <a:pPr indent="0" marL="0">
              <a:buNone/>
            </a:pPr>
            <a:r>
              <a:rPr lang="en-US" sz="1600" b="1" dirty="0">
                <a:solidFill>
                  <a:srgbClr val="0E2A33"/>
                </a:solidFill>
                <a:latin typeface="Cambria" pitchFamily="34" charset="0"/>
                <a:ea typeface="Cambria" pitchFamily="34" charset="-122"/>
                <a:cs typeface="Cambria" pitchFamily="34" charset="-120"/>
              </a:rPr>
              <a:t>NumPy</a:t>
            </a:r>
            <a:endParaRPr lang="en-US" sz="1600" dirty="0"/>
          </a:p>
        </p:txBody>
      </p:sp>
      <p:sp>
        <p:nvSpPr>
          <p:cNvPr id="18" name="Text 16"/>
          <p:cNvSpPr txBox="1"/>
          <p:nvPr/>
        </p:nvSpPr>
        <p:spPr>
          <a:xfrm>
            <a:off x="8412480" y="2971800"/>
            <a:ext cx="2926080" cy="548640"/>
          </a:xfrm>
          <a:prstGeom prst="rect">
            <a:avLst/>
          </a:prstGeom>
          <a:noFill/>
          <a:ln/>
        </p:spPr>
        <p:txBody>
          <a:bodyPr wrap="square" lIns="0" tIns="0" rIns="0" bIns="0" rtlCol="0" anchor="ctr"/>
          <a:lstStyle/>
          <a:p>
            <a:pPr indent="0" marL="0">
              <a:buNone/>
            </a:pPr>
            <a:r>
              <a:rPr lang="en-US" sz="1300" dirty="0">
                <a:solidFill>
                  <a:srgbClr val="5E6F73"/>
                </a:solidFill>
                <a:latin typeface="Calibri" pitchFamily="34" charset="0"/>
                <a:ea typeface="Calibri" pitchFamily="34" charset="-122"/>
                <a:cs typeface="Calibri" pitchFamily="34" charset="-120"/>
              </a:rPr>
              <a:t>Cosine similarity, by hand</a:t>
            </a:r>
            <a:endParaRPr lang="en-US" sz="1300" dirty="0"/>
          </a:p>
        </p:txBody>
      </p:sp>
      <p:sp>
        <p:nvSpPr>
          <p:cNvPr id="19" name="Shape 17"/>
          <p:cNvSpPr/>
          <p:nvPr/>
        </p:nvSpPr>
        <p:spPr>
          <a:xfrm>
            <a:off x="640080" y="3931920"/>
            <a:ext cx="3474720" cy="1645920"/>
          </a:xfrm>
          <a:prstGeom prst="roundRect">
            <a:avLst>
              <a:gd name="adj" fmla="val 5000"/>
            </a:avLst>
          </a:prstGeom>
          <a:solidFill>
            <a:srgbClr val="FFFFFF"/>
          </a:solidFill>
          <a:ln w="12700">
            <a:solidFill>
              <a:srgbClr val="D5E0E1"/>
            </a:solidFill>
            <a:prstDash val="solid"/>
          </a:ln>
          <a:effectLst>
            <a:outerShdw sx="100000" sy="100000" kx="0" ky="0" algn="bl" rotWithShape="0" blurRad="101600" dist="38100" dir="5400000">
              <a:srgbClr val="9BB0B3">
                <a:alpha val="35000"/>
              </a:srgbClr>
            </a:outerShdw>
          </a:effectLst>
        </p:spPr>
      </p:sp>
      <p:sp>
        <p:nvSpPr>
          <p:cNvPr id="20" name="Shape 18"/>
          <p:cNvSpPr/>
          <p:nvPr/>
        </p:nvSpPr>
        <p:spPr>
          <a:xfrm>
            <a:off x="914400" y="4224528"/>
            <a:ext cx="548640" cy="548640"/>
          </a:xfrm>
          <a:prstGeom prst="ellipse">
            <a:avLst/>
          </a:prstGeom>
          <a:solidFill>
            <a:srgbClr val="028090"/>
          </a:solidFill>
          <a:ln/>
        </p:spPr>
      </p:sp>
      <p:sp>
        <p:nvSpPr>
          <p:cNvPr id="21" name="Text 19"/>
          <p:cNvSpPr txBox="1"/>
          <p:nvPr/>
        </p:nvSpPr>
        <p:spPr>
          <a:xfrm>
            <a:off x="914400" y="422452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a:t>
            </a:r>
            <a:endParaRPr lang="en-US" sz="1600" dirty="0"/>
          </a:p>
        </p:txBody>
      </p:sp>
      <p:sp>
        <p:nvSpPr>
          <p:cNvPr id="22" name="Text 20"/>
          <p:cNvSpPr txBox="1"/>
          <p:nvPr/>
        </p:nvSpPr>
        <p:spPr>
          <a:xfrm>
            <a:off x="1600200" y="4187952"/>
            <a:ext cx="2377440" cy="640080"/>
          </a:xfrm>
          <a:prstGeom prst="rect">
            <a:avLst/>
          </a:prstGeom>
          <a:noFill/>
          <a:ln/>
        </p:spPr>
        <p:txBody>
          <a:bodyPr wrap="square" lIns="0" tIns="0" rIns="0" bIns="0" rtlCol="0" anchor="ctr"/>
          <a:lstStyle/>
          <a:p>
            <a:pPr indent="0" marL="0">
              <a:buNone/>
            </a:pPr>
            <a:r>
              <a:rPr lang="en-US" sz="1600" b="1" dirty="0">
                <a:solidFill>
                  <a:srgbClr val="0E2A33"/>
                </a:solidFill>
                <a:latin typeface="Cambria" pitchFamily="34" charset="0"/>
                <a:ea typeface="Cambria" pitchFamily="34" charset="-122"/>
                <a:cs typeface="Cambria" pitchFamily="34" charset="-120"/>
              </a:rPr>
              <a:t>Gemini API</a:t>
            </a:r>
            <a:endParaRPr lang="en-US" sz="1600" dirty="0"/>
          </a:p>
        </p:txBody>
      </p:sp>
      <p:sp>
        <p:nvSpPr>
          <p:cNvPr id="23" name="Text 21"/>
          <p:cNvSpPr txBox="1"/>
          <p:nvPr/>
        </p:nvSpPr>
        <p:spPr>
          <a:xfrm>
            <a:off x="914400" y="4892040"/>
            <a:ext cx="2926080" cy="548640"/>
          </a:xfrm>
          <a:prstGeom prst="rect">
            <a:avLst/>
          </a:prstGeom>
          <a:noFill/>
          <a:ln/>
        </p:spPr>
        <p:txBody>
          <a:bodyPr wrap="square" lIns="0" tIns="0" rIns="0" bIns="0" rtlCol="0" anchor="ctr"/>
          <a:lstStyle/>
          <a:p>
            <a:pPr indent="0" marL="0">
              <a:buNone/>
            </a:pPr>
            <a:r>
              <a:rPr lang="en-US" sz="1300" dirty="0">
                <a:solidFill>
                  <a:srgbClr val="5E6F73"/>
                </a:solidFill>
                <a:latin typeface="Calibri" pitchFamily="34" charset="0"/>
                <a:ea typeface="Calibri" pitchFamily="34" charset="-122"/>
                <a:cs typeface="Calibri" pitchFamily="34" charset="-120"/>
              </a:rPr>
              <a:t>Generates the final answer</a:t>
            </a:r>
            <a:endParaRPr lang="en-US" sz="1300" dirty="0"/>
          </a:p>
        </p:txBody>
      </p:sp>
      <p:sp>
        <p:nvSpPr>
          <p:cNvPr id="24" name="Shape 22"/>
          <p:cNvSpPr/>
          <p:nvPr/>
        </p:nvSpPr>
        <p:spPr>
          <a:xfrm>
            <a:off x="4389120" y="3931920"/>
            <a:ext cx="3474720" cy="1645920"/>
          </a:xfrm>
          <a:prstGeom prst="roundRect">
            <a:avLst>
              <a:gd name="adj" fmla="val 5000"/>
            </a:avLst>
          </a:prstGeom>
          <a:solidFill>
            <a:srgbClr val="FFFFFF"/>
          </a:solidFill>
          <a:ln w="12700">
            <a:solidFill>
              <a:srgbClr val="D5E0E1"/>
            </a:solidFill>
            <a:prstDash val="solid"/>
          </a:ln>
          <a:effectLst>
            <a:outerShdw sx="100000" sy="100000" kx="0" ky="0" algn="bl" rotWithShape="0" blurRad="101600" dist="38100" dir="5400000">
              <a:srgbClr val="9BB0B3">
                <a:alpha val="35000"/>
              </a:srgbClr>
            </a:outerShdw>
          </a:effectLst>
        </p:spPr>
      </p:sp>
      <p:sp>
        <p:nvSpPr>
          <p:cNvPr id="25" name="Shape 23"/>
          <p:cNvSpPr/>
          <p:nvPr/>
        </p:nvSpPr>
        <p:spPr>
          <a:xfrm>
            <a:off x="4663440" y="4224528"/>
            <a:ext cx="548640" cy="548640"/>
          </a:xfrm>
          <a:prstGeom prst="ellipse">
            <a:avLst/>
          </a:prstGeom>
          <a:solidFill>
            <a:srgbClr val="028090"/>
          </a:solidFill>
          <a:ln/>
        </p:spPr>
      </p:sp>
      <p:sp>
        <p:nvSpPr>
          <p:cNvPr id="26" name="Text 24"/>
          <p:cNvSpPr txBox="1"/>
          <p:nvPr/>
        </p:nvSpPr>
        <p:spPr>
          <a:xfrm>
            <a:off x="4663440" y="422452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E</a:t>
            </a:r>
            <a:endParaRPr lang="en-US" sz="1600" dirty="0"/>
          </a:p>
        </p:txBody>
      </p:sp>
      <p:sp>
        <p:nvSpPr>
          <p:cNvPr id="27" name="Text 25"/>
          <p:cNvSpPr txBox="1"/>
          <p:nvPr/>
        </p:nvSpPr>
        <p:spPr>
          <a:xfrm>
            <a:off x="5349240" y="4187952"/>
            <a:ext cx="2377440" cy="640080"/>
          </a:xfrm>
          <a:prstGeom prst="rect">
            <a:avLst/>
          </a:prstGeom>
          <a:noFill/>
          <a:ln/>
        </p:spPr>
        <p:txBody>
          <a:bodyPr wrap="square" lIns="0" tIns="0" rIns="0" bIns="0" rtlCol="0" anchor="ctr"/>
          <a:lstStyle/>
          <a:p>
            <a:pPr indent="0" marL="0">
              <a:buNone/>
            </a:pPr>
            <a:r>
              <a:rPr lang="en-US" sz="1600" b="1" dirty="0">
                <a:solidFill>
                  <a:srgbClr val="0E2A33"/>
                </a:solidFill>
                <a:latin typeface="Cambria" pitchFamily="34" charset="0"/>
                <a:ea typeface="Cambria" pitchFamily="34" charset="-122"/>
                <a:cs typeface="Cambria" pitchFamily="34" charset="-120"/>
              </a:rPr>
              <a:t>Streamlit</a:t>
            </a:r>
            <a:endParaRPr lang="en-US" sz="1600" dirty="0"/>
          </a:p>
        </p:txBody>
      </p:sp>
      <p:sp>
        <p:nvSpPr>
          <p:cNvPr id="28" name="Text 26"/>
          <p:cNvSpPr txBox="1"/>
          <p:nvPr/>
        </p:nvSpPr>
        <p:spPr>
          <a:xfrm>
            <a:off x="4663440" y="4892040"/>
            <a:ext cx="2926080" cy="548640"/>
          </a:xfrm>
          <a:prstGeom prst="rect">
            <a:avLst/>
          </a:prstGeom>
          <a:noFill/>
          <a:ln/>
        </p:spPr>
        <p:txBody>
          <a:bodyPr wrap="square" lIns="0" tIns="0" rIns="0" bIns="0" rtlCol="0" anchor="ctr"/>
          <a:lstStyle/>
          <a:p>
            <a:pPr indent="0" marL="0">
              <a:buNone/>
            </a:pPr>
            <a:r>
              <a:rPr lang="en-US" sz="1300" dirty="0">
                <a:solidFill>
                  <a:srgbClr val="5E6F73"/>
                </a:solidFill>
                <a:latin typeface="Calibri" pitchFamily="34" charset="0"/>
                <a:ea typeface="Calibri" pitchFamily="34" charset="-122"/>
                <a:cs typeface="Calibri" pitchFamily="34" charset="-120"/>
              </a:rPr>
              <a:t>The web interface</a:t>
            </a:r>
            <a:endParaRPr lang="en-US" sz="1300" dirty="0"/>
          </a:p>
        </p:txBody>
      </p:sp>
      <p:sp>
        <p:nvSpPr>
          <p:cNvPr id="29" name="Shape 27"/>
          <p:cNvSpPr/>
          <p:nvPr/>
        </p:nvSpPr>
        <p:spPr>
          <a:xfrm>
            <a:off x="8138160" y="3931920"/>
            <a:ext cx="3474720" cy="1645920"/>
          </a:xfrm>
          <a:prstGeom prst="roundRect">
            <a:avLst>
              <a:gd name="adj" fmla="val 5000"/>
            </a:avLst>
          </a:prstGeom>
          <a:solidFill>
            <a:srgbClr val="FFFFFF"/>
          </a:solidFill>
          <a:ln w="12700">
            <a:solidFill>
              <a:srgbClr val="D5E0E1"/>
            </a:solidFill>
            <a:prstDash val="solid"/>
          </a:ln>
          <a:effectLst>
            <a:outerShdw sx="100000" sy="100000" kx="0" ky="0" algn="bl" rotWithShape="0" blurRad="101600" dist="38100" dir="5400000">
              <a:srgbClr val="9BB0B3">
                <a:alpha val="35000"/>
              </a:srgbClr>
            </a:outerShdw>
          </a:effectLst>
        </p:spPr>
      </p:sp>
      <p:sp>
        <p:nvSpPr>
          <p:cNvPr id="30" name="Shape 28"/>
          <p:cNvSpPr/>
          <p:nvPr/>
        </p:nvSpPr>
        <p:spPr>
          <a:xfrm>
            <a:off x="8412480" y="4224528"/>
            <a:ext cx="548640" cy="548640"/>
          </a:xfrm>
          <a:prstGeom prst="ellipse">
            <a:avLst/>
          </a:prstGeom>
          <a:solidFill>
            <a:srgbClr val="028090"/>
          </a:solidFill>
          <a:ln/>
        </p:spPr>
      </p:sp>
      <p:sp>
        <p:nvSpPr>
          <p:cNvPr id="31" name="Text 29"/>
          <p:cNvSpPr txBox="1"/>
          <p:nvPr/>
        </p:nvSpPr>
        <p:spPr>
          <a:xfrm>
            <a:off x="8412480" y="422452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F</a:t>
            </a:r>
            <a:endParaRPr lang="en-US" sz="1600" dirty="0"/>
          </a:p>
        </p:txBody>
      </p:sp>
      <p:sp>
        <p:nvSpPr>
          <p:cNvPr id="32" name="Text 30"/>
          <p:cNvSpPr txBox="1"/>
          <p:nvPr/>
        </p:nvSpPr>
        <p:spPr>
          <a:xfrm>
            <a:off x="9098280" y="4187952"/>
            <a:ext cx="2377440" cy="640080"/>
          </a:xfrm>
          <a:prstGeom prst="rect">
            <a:avLst/>
          </a:prstGeom>
          <a:noFill/>
          <a:ln/>
        </p:spPr>
        <p:txBody>
          <a:bodyPr wrap="square" lIns="0" tIns="0" rIns="0" bIns="0" rtlCol="0" anchor="ctr"/>
          <a:lstStyle/>
          <a:p>
            <a:pPr indent="0" marL="0">
              <a:buNone/>
            </a:pPr>
            <a:r>
              <a:rPr lang="en-US" sz="1600" b="1" dirty="0">
                <a:solidFill>
                  <a:srgbClr val="0E2A33"/>
                </a:solidFill>
                <a:latin typeface="Cambria" pitchFamily="34" charset="0"/>
                <a:ea typeface="Cambria" pitchFamily="34" charset="-122"/>
                <a:cs typeface="Cambria" pitchFamily="34" charset="-120"/>
              </a:rPr>
              <a:t>GitHub + Streamlit Cloud</a:t>
            </a:r>
            <a:endParaRPr lang="en-US" sz="1600" dirty="0"/>
          </a:p>
        </p:txBody>
      </p:sp>
      <p:sp>
        <p:nvSpPr>
          <p:cNvPr id="33" name="Text 31"/>
          <p:cNvSpPr txBox="1"/>
          <p:nvPr/>
        </p:nvSpPr>
        <p:spPr>
          <a:xfrm>
            <a:off x="8412480" y="4892040"/>
            <a:ext cx="2926080" cy="548640"/>
          </a:xfrm>
          <a:prstGeom prst="rect">
            <a:avLst/>
          </a:prstGeom>
          <a:noFill/>
          <a:ln/>
        </p:spPr>
        <p:txBody>
          <a:bodyPr wrap="square" lIns="0" tIns="0" rIns="0" bIns="0" rtlCol="0" anchor="ctr"/>
          <a:lstStyle/>
          <a:p>
            <a:pPr indent="0" marL="0">
              <a:buNone/>
            </a:pPr>
            <a:r>
              <a:rPr lang="en-US" sz="1300" dirty="0">
                <a:solidFill>
                  <a:srgbClr val="5E6F73"/>
                </a:solidFill>
                <a:latin typeface="Calibri" pitchFamily="34" charset="0"/>
                <a:ea typeface="Calibri" pitchFamily="34" charset="-122"/>
                <a:cs typeface="Calibri" pitchFamily="34" charset="-120"/>
              </a:rPr>
              <a:t>Free public deployment</a:t>
            </a:r>
            <a:endParaRPr lang="en-US" sz="1300" dirty="0"/>
          </a:p>
        </p:txBody>
      </p:sp>
      <p:sp>
        <p:nvSpPr>
          <p:cNvPr id="34" name="Text 32"/>
          <p:cNvSpPr txBox="1"/>
          <p:nvPr/>
        </p:nvSpPr>
        <p:spPr>
          <a:xfrm>
            <a:off x="640080" y="6126480"/>
            <a:ext cx="10972800" cy="365760"/>
          </a:xfrm>
          <a:prstGeom prst="rect">
            <a:avLst/>
          </a:prstGeom>
          <a:noFill/>
          <a:ln/>
        </p:spPr>
        <p:txBody>
          <a:bodyPr wrap="square" rtlCol="0" anchor="ctr"/>
          <a:lstStyle/>
          <a:p>
            <a:pPr algn="ctr" indent="0" marL="0">
              <a:buNone/>
            </a:pPr>
            <a:r>
              <a:rPr lang="en-US" sz="1400" i="1" dirty="0">
                <a:solidFill>
                  <a:srgbClr val="028090"/>
                </a:solidFill>
                <a:latin typeface="Calibri" pitchFamily="34" charset="0"/>
                <a:ea typeface="Calibri" pitchFamily="34" charset="-122"/>
                <a:cs typeface="Calibri" pitchFamily="34" charset="-120"/>
              </a:rPr>
              <a:t>No LangChain · no vector database · no Docker · no agents — those are follow-ups.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731520"/>
          </a:xfrm>
          <a:prstGeom prst="rect">
            <a:avLst/>
          </a:prstGeom>
          <a:noFill/>
          <a:ln/>
        </p:spPr>
        <p:txBody>
          <a:bodyPr wrap="square" rtlCol="0" anchor="ctr"/>
          <a:lstStyle/>
          <a:p>
            <a:pPr indent="0" marL="0">
              <a:buNone/>
            </a:pPr>
            <a:r>
              <a:rPr lang="en-US" sz="4000" b="1" dirty="0">
                <a:solidFill>
                  <a:srgbClr val="0E2A33"/>
                </a:solidFill>
                <a:latin typeface="Cambria" pitchFamily="34" charset="0"/>
                <a:ea typeface="Cambria" pitchFamily="34" charset="-122"/>
                <a:cs typeface="Cambria" pitchFamily="34" charset="-120"/>
              </a:rPr>
              <a:t>The next 90 minutes</a:t>
            </a:r>
            <a:endParaRPr lang="en-US" sz="4000" dirty="0"/>
          </a:p>
        </p:txBody>
      </p:sp>
      <p:sp>
        <p:nvSpPr>
          <p:cNvPr id="3" name="Shape 1"/>
          <p:cNvSpPr/>
          <p:nvPr/>
        </p:nvSpPr>
        <p:spPr>
          <a:xfrm>
            <a:off x="640080" y="1463040"/>
            <a:ext cx="1371600" cy="438912"/>
          </a:xfrm>
          <a:prstGeom prst="roundRect">
            <a:avLst>
              <a:gd name="adj" fmla="val 10417"/>
            </a:avLst>
          </a:prstGeom>
          <a:solidFill>
            <a:srgbClr val="028090"/>
          </a:solidFill>
          <a:ln/>
        </p:spPr>
      </p:sp>
      <p:sp>
        <p:nvSpPr>
          <p:cNvPr id="4" name="Text 2"/>
          <p:cNvSpPr txBox="1"/>
          <p:nvPr/>
        </p:nvSpPr>
        <p:spPr>
          <a:xfrm>
            <a:off x="640080" y="1463040"/>
            <a:ext cx="137160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0–15 min</a:t>
            </a:r>
            <a:endParaRPr lang="en-US" sz="1200" dirty="0"/>
          </a:p>
        </p:txBody>
      </p:sp>
      <p:sp>
        <p:nvSpPr>
          <p:cNvPr id="5" name="Text 3"/>
          <p:cNvSpPr txBox="1"/>
          <p:nvPr/>
        </p:nvSpPr>
        <p:spPr>
          <a:xfrm>
            <a:off x="2194560" y="1463040"/>
            <a:ext cx="6949440" cy="438912"/>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Demo + the RAG mental model</a:t>
            </a:r>
            <a:endParaRPr lang="en-US" sz="1500" dirty="0"/>
          </a:p>
        </p:txBody>
      </p:sp>
      <p:sp>
        <p:nvSpPr>
          <p:cNvPr id="6" name="Text 4"/>
          <p:cNvSpPr txBox="1"/>
          <p:nvPr/>
        </p:nvSpPr>
        <p:spPr>
          <a:xfrm>
            <a:off x="9326880" y="1463040"/>
            <a:ext cx="2103120" cy="438912"/>
          </a:xfrm>
          <a:prstGeom prst="rect">
            <a:avLst/>
          </a:prstGeom>
          <a:noFill/>
          <a:ln/>
        </p:spPr>
        <p:txBody>
          <a:bodyPr wrap="square" lIns="0" tIns="0" rIns="0" bIns="0" rtlCol="0" anchor="ctr"/>
          <a:lstStyle/>
          <a:p>
            <a:pPr algn="r" indent="0" marL="0">
              <a:buNone/>
            </a:pPr>
            <a:r>
              <a:rPr lang="en-US" sz="1200" i="1" dirty="0">
                <a:solidFill>
                  <a:srgbClr val="5E6F73"/>
                </a:solidFill>
                <a:latin typeface="Calibri" pitchFamily="34" charset="0"/>
                <a:ea typeface="Calibri" pitchFamily="34" charset="-122"/>
                <a:cs typeface="Calibri" pitchFamily="34" charset="-120"/>
              </a:rPr>
              <a:t>slides</a:t>
            </a:r>
            <a:endParaRPr lang="en-US" sz="1200" dirty="0"/>
          </a:p>
        </p:txBody>
      </p:sp>
      <p:sp>
        <p:nvSpPr>
          <p:cNvPr id="7" name="Shape 5"/>
          <p:cNvSpPr/>
          <p:nvPr/>
        </p:nvSpPr>
        <p:spPr>
          <a:xfrm>
            <a:off x="640080" y="2011680"/>
            <a:ext cx="1371600" cy="438912"/>
          </a:xfrm>
          <a:prstGeom prst="roundRect">
            <a:avLst>
              <a:gd name="adj" fmla="val 10417"/>
            </a:avLst>
          </a:prstGeom>
          <a:solidFill>
            <a:srgbClr val="028090"/>
          </a:solidFill>
          <a:ln/>
        </p:spPr>
      </p:sp>
      <p:sp>
        <p:nvSpPr>
          <p:cNvPr id="8" name="Text 6"/>
          <p:cNvSpPr txBox="1"/>
          <p:nvPr/>
        </p:nvSpPr>
        <p:spPr>
          <a:xfrm>
            <a:off x="640080" y="2011680"/>
            <a:ext cx="137160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15–25 min</a:t>
            </a:r>
            <a:endParaRPr lang="en-US" sz="1200" dirty="0"/>
          </a:p>
        </p:txBody>
      </p:sp>
      <p:sp>
        <p:nvSpPr>
          <p:cNvPr id="9" name="Text 7"/>
          <p:cNvSpPr txBox="1"/>
          <p:nvPr/>
        </p:nvSpPr>
        <p:spPr>
          <a:xfrm>
            <a:off x="2194560" y="2011680"/>
            <a:ext cx="6949440" cy="438912"/>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Load &amp; chunk the document</a:t>
            </a:r>
            <a:endParaRPr lang="en-US" sz="1500" dirty="0"/>
          </a:p>
        </p:txBody>
      </p:sp>
      <p:sp>
        <p:nvSpPr>
          <p:cNvPr id="10" name="Text 8"/>
          <p:cNvSpPr txBox="1"/>
          <p:nvPr/>
        </p:nvSpPr>
        <p:spPr>
          <a:xfrm>
            <a:off x="9326880" y="2011680"/>
            <a:ext cx="2103120" cy="438912"/>
          </a:xfrm>
          <a:prstGeom prst="rect">
            <a:avLst/>
          </a:prstGeom>
          <a:noFill/>
          <a:ln/>
        </p:spPr>
        <p:txBody>
          <a:bodyPr wrap="square" lIns="0" tIns="0" rIns="0" bIns="0" rtlCol="0" anchor="ctr"/>
          <a:lstStyle/>
          <a:p>
            <a:pPr algn="r" indent="0" marL="0">
              <a:buNone/>
            </a:pPr>
            <a:r>
              <a:rPr lang="en-US" sz="1200" i="1" dirty="0">
                <a:solidFill>
                  <a:srgbClr val="5E6F73"/>
                </a:solidFill>
                <a:latin typeface="Calibri" pitchFamily="34" charset="0"/>
                <a:ea typeface="Calibri" pitchFamily="34" charset="-122"/>
                <a:cs typeface="Calibri" pitchFamily="34" charset="-120"/>
              </a:rPr>
              <a:t>Colab</a:t>
            </a:r>
            <a:endParaRPr lang="en-US" sz="1200" dirty="0"/>
          </a:p>
        </p:txBody>
      </p:sp>
      <p:sp>
        <p:nvSpPr>
          <p:cNvPr id="11" name="Shape 9"/>
          <p:cNvSpPr/>
          <p:nvPr/>
        </p:nvSpPr>
        <p:spPr>
          <a:xfrm>
            <a:off x="640080" y="2560320"/>
            <a:ext cx="1371600" cy="438912"/>
          </a:xfrm>
          <a:prstGeom prst="roundRect">
            <a:avLst>
              <a:gd name="adj" fmla="val 10417"/>
            </a:avLst>
          </a:prstGeom>
          <a:solidFill>
            <a:srgbClr val="028090"/>
          </a:solidFill>
          <a:ln/>
        </p:spPr>
      </p:sp>
      <p:sp>
        <p:nvSpPr>
          <p:cNvPr id="12" name="Text 10"/>
          <p:cNvSpPr txBox="1"/>
          <p:nvPr/>
        </p:nvSpPr>
        <p:spPr>
          <a:xfrm>
            <a:off x="640080" y="2560320"/>
            <a:ext cx="137160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25–38 min</a:t>
            </a:r>
            <a:endParaRPr lang="en-US" sz="1200" dirty="0"/>
          </a:p>
        </p:txBody>
      </p:sp>
      <p:sp>
        <p:nvSpPr>
          <p:cNvPr id="13" name="Text 11"/>
          <p:cNvSpPr txBox="1"/>
          <p:nvPr/>
        </p:nvSpPr>
        <p:spPr>
          <a:xfrm>
            <a:off x="2194560" y="2560320"/>
            <a:ext cx="6949440" cy="438912"/>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Generate embeddings</a:t>
            </a:r>
            <a:endParaRPr lang="en-US" sz="1500" dirty="0"/>
          </a:p>
        </p:txBody>
      </p:sp>
      <p:sp>
        <p:nvSpPr>
          <p:cNvPr id="14" name="Text 12"/>
          <p:cNvSpPr txBox="1"/>
          <p:nvPr/>
        </p:nvSpPr>
        <p:spPr>
          <a:xfrm>
            <a:off x="9326880" y="2560320"/>
            <a:ext cx="2103120" cy="438912"/>
          </a:xfrm>
          <a:prstGeom prst="rect">
            <a:avLst/>
          </a:prstGeom>
          <a:noFill/>
          <a:ln/>
        </p:spPr>
        <p:txBody>
          <a:bodyPr wrap="square" lIns="0" tIns="0" rIns="0" bIns="0" rtlCol="0" anchor="ctr"/>
          <a:lstStyle/>
          <a:p>
            <a:pPr algn="r" indent="0" marL="0">
              <a:buNone/>
            </a:pPr>
            <a:r>
              <a:rPr lang="en-US" sz="1200" i="1" dirty="0">
                <a:solidFill>
                  <a:srgbClr val="5E6F73"/>
                </a:solidFill>
                <a:latin typeface="Calibri" pitchFamily="34" charset="0"/>
                <a:ea typeface="Calibri" pitchFamily="34" charset="-122"/>
                <a:cs typeface="Calibri" pitchFamily="34" charset="-120"/>
              </a:rPr>
              <a:t>Colab</a:t>
            </a:r>
            <a:endParaRPr lang="en-US" sz="1200" dirty="0"/>
          </a:p>
        </p:txBody>
      </p:sp>
      <p:sp>
        <p:nvSpPr>
          <p:cNvPr id="15" name="Shape 13"/>
          <p:cNvSpPr/>
          <p:nvPr/>
        </p:nvSpPr>
        <p:spPr>
          <a:xfrm>
            <a:off x="640080" y="3108960"/>
            <a:ext cx="1371600" cy="438912"/>
          </a:xfrm>
          <a:prstGeom prst="roundRect">
            <a:avLst>
              <a:gd name="adj" fmla="val 10417"/>
            </a:avLst>
          </a:prstGeom>
          <a:solidFill>
            <a:srgbClr val="028090"/>
          </a:solidFill>
          <a:ln/>
        </p:spPr>
      </p:sp>
      <p:sp>
        <p:nvSpPr>
          <p:cNvPr id="16" name="Text 14"/>
          <p:cNvSpPr txBox="1"/>
          <p:nvPr/>
        </p:nvSpPr>
        <p:spPr>
          <a:xfrm>
            <a:off x="640080" y="3108960"/>
            <a:ext cx="137160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38–48 min</a:t>
            </a:r>
            <a:endParaRPr lang="en-US" sz="1200" dirty="0"/>
          </a:p>
        </p:txBody>
      </p:sp>
      <p:sp>
        <p:nvSpPr>
          <p:cNvPr id="17" name="Text 15"/>
          <p:cNvSpPr txBox="1"/>
          <p:nvPr/>
        </p:nvSpPr>
        <p:spPr>
          <a:xfrm>
            <a:off x="2194560" y="3108960"/>
            <a:ext cx="6949440" cy="438912"/>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Cosine similarity &amp; top-k</a:t>
            </a:r>
            <a:endParaRPr lang="en-US" sz="1500" dirty="0"/>
          </a:p>
        </p:txBody>
      </p:sp>
      <p:sp>
        <p:nvSpPr>
          <p:cNvPr id="18" name="Text 16"/>
          <p:cNvSpPr txBox="1"/>
          <p:nvPr/>
        </p:nvSpPr>
        <p:spPr>
          <a:xfrm>
            <a:off x="9326880" y="3108960"/>
            <a:ext cx="2103120" cy="438912"/>
          </a:xfrm>
          <a:prstGeom prst="rect">
            <a:avLst/>
          </a:prstGeom>
          <a:noFill/>
          <a:ln/>
        </p:spPr>
        <p:txBody>
          <a:bodyPr wrap="square" lIns="0" tIns="0" rIns="0" bIns="0" rtlCol="0" anchor="ctr"/>
          <a:lstStyle/>
          <a:p>
            <a:pPr algn="r" indent="0" marL="0">
              <a:buNone/>
            </a:pPr>
            <a:r>
              <a:rPr lang="en-US" sz="1200" i="1" dirty="0">
                <a:solidFill>
                  <a:srgbClr val="5E6F73"/>
                </a:solidFill>
                <a:latin typeface="Calibri" pitchFamily="34" charset="0"/>
                <a:ea typeface="Calibri" pitchFamily="34" charset="-122"/>
                <a:cs typeface="Calibri" pitchFamily="34" charset="-120"/>
              </a:rPr>
              <a:t>Colab</a:t>
            </a:r>
            <a:endParaRPr lang="en-US" sz="1200" dirty="0"/>
          </a:p>
        </p:txBody>
      </p:sp>
      <p:sp>
        <p:nvSpPr>
          <p:cNvPr id="19" name="Shape 17"/>
          <p:cNvSpPr/>
          <p:nvPr/>
        </p:nvSpPr>
        <p:spPr>
          <a:xfrm>
            <a:off x="640080" y="3657600"/>
            <a:ext cx="1371600" cy="438912"/>
          </a:xfrm>
          <a:prstGeom prst="roundRect">
            <a:avLst>
              <a:gd name="adj" fmla="val 10417"/>
            </a:avLst>
          </a:prstGeom>
          <a:solidFill>
            <a:srgbClr val="028090"/>
          </a:solidFill>
          <a:ln/>
        </p:spPr>
      </p:sp>
      <p:sp>
        <p:nvSpPr>
          <p:cNvPr id="20" name="Text 18"/>
          <p:cNvSpPr txBox="1"/>
          <p:nvPr/>
        </p:nvSpPr>
        <p:spPr>
          <a:xfrm>
            <a:off x="640080" y="3657600"/>
            <a:ext cx="137160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48–58 min</a:t>
            </a:r>
            <a:endParaRPr lang="en-US" sz="1200" dirty="0"/>
          </a:p>
        </p:txBody>
      </p:sp>
      <p:sp>
        <p:nvSpPr>
          <p:cNvPr id="21" name="Text 19"/>
          <p:cNvSpPr txBox="1"/>
          <p:nvPr/>
        </p:nvSpPr>
        <p:spPr>
          <a:xfrm>
            <a:off x="2194560" y="3657600"/>
            <a:ext cx="6949440" cy="438912"/>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Generate a grounded answer</a:t>
            </a:r>
            <a:endParaRPr lang="en-US" sz="1500" dirty="0"/>
          </a:p>
        </p:txBody>
      </p:sp>
      <p:sp>
        <p:nvSpPr>
          <p:cNvPr id="22" name="Text 20"/>
          <p:cNvSpPr txBox="1"/>
          <p:nvPr/>
        </p:nvSpPr>
        <p:spPr>
          <a:xfrm>
            <a:off x="9326880" y="3657600"/>
            <a:ext cx="2103120" cy="438912"/>
          </a:xfrm>
          <a:prstGeom prst="rect">
            <a:avLst/>
          </a:prstGeom>
          <a:noFill/>
          <a:ln/>
        </p:spPr>
        <p:txBody>
          <a:bodyPr wrap="square" lIns="0" tIns="0" rIns="0" bIns="0" rtlCol="0" anchor="ctr"/>
          <a:lstStyle/>
          <a:p>
            <a:pPr algn="r" indent="0" marL="0">
              <a:buNone/>
            </a:pPr>
            <a:r>
              <a:rPr lang="en-US" sz="1200" i="1" dirty="0">
                <a:solidFill>
                  <a:srgbClr val="5E6F73"/>
                </a:solidFill>
                <a:latin typeface="Calibri" pitchFamily="34" charset="0"/>
                <a:ea typeface="Calibri" pitchFamily="34" charset="-122"/>
                <a:cs typeface="Calibri" pitchFamily="34" charset="-120"/>
              </a:rPr>
              <a:t>Colab</a:t>
            </a:r>
            <a:endParaRPr lang="en-US" sz="1200" dirty="0"/>
          </a:p>
        </p:txBody>
      </p:sp>
      <p:sp>
        <p:nvSpPr>
          <p:cNvPr id="23" name="Shape 21"/>
          <p:cNvSpPr/>
          <p:nvPr/>
        </p:nvSpPr>
        <p:spPr>
          <a:xfrm>
            <a:off x="640080" y="4206240"/>
            <a:ext cx="1371600" cy="438912"/>
          </a:xfrm>
          <a:prstGeom prst="roundRect">
            <a:avLst>
              <a:gd name="adj" fmla="val 10417"/>
            </a:avLst>
          </a:prstGeom>
          <a:solidFill>
            <a:srgbClr val="028090"/>
          </a:solidFill>
          <a:ln/>
        </p:spPr>
      </p:sp>
      <p:sp>
        <p:nvSpPr>
          <p:cNvPr id="24" name="Text 22"/>
          <p:cNvSpPr txBox="1"/>
          <p:nvPr/>
        </p:nvSpPr>
        <p:spPr>
          <a:xfrm>
            <a:off x="640080" y="4206240"/>
            <a:ext cx="137160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58–63 min</a:t>
            </a:r>
            <a:endParaRPr lang="en-US" sz="1200" dirty="0"/>
          </a:p>
        </p:txBody>
      </p:sp>
      <p:sp>
        <p:nvSpPr>
          <p:cNvPr id="25" name="Text 23"/>
          <p:cNvSpPr txBox="1"/>
          <p:nvPr/>
        </p:nvSpPr>
        <p:spPr>
          <a:xfrm>
            <a:off x="2194560" y="4206240"/>
            <a:ext cx="6949440" cy="438912"/>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Catch-up buffer</a:t>
            </a:r>
            <a:endParaRPr lang="en-US" sz="1500" dirty="0"/>
          </a:p>
        </p:txBody>
      </p:sp>
      <p:sp>
        <p:nvSpPr>
          <p:cNvPr id="26" name="Text 24"/>
          <p:cNvSpPr txBox="1"/>
          <p:nvPr/>
        </p:nvSpPr>
        <p:spPr>
          <a:xfrm>
            <a:off x="9326880" y="4206240"/>
            <a:ext cx="2103120" cy="438912"/>
          </a:xfrm>
          <a:prstGeom prst="rect">
            <a:avLst/>
          </a:prstGeom>
          <a:noFill/>
          <a:ln/>
        </p:spPr>
        <p:txBody>
          <a:bodyPr wrap="square" lIns="0" tIns="0" rIns="0" bIns="0" rtlCol="0" anchor="ctr"/>
          <a:lstStyle/>
          <a:p>
            <a:pPr algn="r" indent="0" marL="0">
              <a:buNone/>
            </a:pPr>
            <a:r>
              <a:rPr lang="en-US" sz="1200" i="1" dirty="0">
                <a:solidFill>
                  <a:srgbClr val="5E6F73"/>
                </a:solidFill>
                <a:latin typeface="Calibri" pitchFamily="34" charset="0"/>
                <a:ea typeface="Calibri" pitchFamily="34" charset="-122"/>
                <a:cs typeface="Calibri" pitchFamily="34" charset="-120"/>
              </a:rPr>
              <a:t>—</a:t>
            </a:r>
            <a:endParaRPr lang="en-US" sz="1200" dirty="0"/>
          </a:p>
        </p:txBody>
      </p:sp>
      <p:sp>
        <p:nvSpPr>
          <p:cNvPr id="27" name="Shape 25"/>
          <p:cNvSpPr/>
          <p:nvPr/>
        </p:nvSpPr>
        <p:spPr>
          <a:xfrm>
            <a:off x="640080" y="4754880"/>
            <a:ext cx="1371600" cy="438912"/>
          </a:xfrm>
          <a:prstGeom prst="roundRect">
            <a:avLst>
              <a:gd name="adj" fmla="val 10417"/>
            </a:avLst>
          </a:prstGeom>
          <a:solidFill>
            <a:srgbClr val="028090"/>
          </a:solidFill>
          <a:ln/>
        </p:spPr>
      </p:sp>
      <p:sp>
        <p:nvSpPr>
          <p:cNvPr id="28" name="Text 26"/>
          <p:cNvSpPr txBox="1"/>
          <p:nvPr/>
        </p:nvSpPr>
        <p:spPr>
          <a:xfrm>
            <a:off x="640080" y="4754880"/>
            <a:ext cx="137160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63–76 min</a:t>
            </a:r>
            <a:endParaRPr lang="en-US" sz="1200" dirty="0"/>
          </a:p>
        </p:txBody>
      </p:sp>
      <p:sp>
        <p:nvSpPr>
          <p:cNvPr id="29" name="Text 27"/>
          <p:cNvSpPr txBox="1"/>
          <p:nvPr/>
        </p:nvSpPr>
        <p:spPr>
          <a:xfrm>
            <a:off x="2194560" y="4754880"/>
            <a:ext cx="6949440" cy="438912"/>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Read app.py: sources, scores, latency</a:t>
            </a:r>
            <a:endParaRPr lang="en-US" sz="1500" dirty="0"/>
          </a:p>
        </p:txBody>
      </p:sp>
      <p:sp>
        <p:nvSpPr>
          <p:cNvPr id="30" name="Text 28"/>
          <p:cNvSpPr txBox="1"/>
          <p:nvPr/>
        </p:nvSpPr>
        <p:spPr>
          <a:xfrm>
            <a:off x="9326880" y="4754880"/>
            <a:ext cx="2103120" cy="438912"/>
          </a:xfrm>
          <a:prstGeom prst="rect">
            <a:avLst/>
          </a:prstGeom>
          <a:noFill/>
          <a:ln/>
        </p:spPr>
        <p:txBody>
          <a:bodyPr wrap="square" lIns="0" tIns="0" rIns="0" bIns="0" rtlCol="0" anchor="ctr"/>
          <a:lstStyle/>
          <a:p>
            <a:pPr algn="r" indent="0" marL="0">
              <a:buNone/>
            </a:pPr>
            <a:r>
              <a:rPr lang="en-US" sz="1200" i="1" dirty="0">
                <a:solidFill>
                  <a:srgbClr val="5E6F73"/>
                </a:solidFill>
                <a:latin typeface="Calibri" pitchFamily="34" charset="0"/>
                <a:ea typeface="Calibri" pitchFamily="34" charset="-122"/>
                <a:cs typeface="Calibri" pitchFamily="34" charset="-120"/>
              </a:rPr>
              <a:t>Colab→repo</a:t>
            </a:r>
            <a:endParaRPr lang="en-US" sz="1200" dirty="0"/>
          </a:p>
        </p:txBody>
      </p:sp>
      <p:sp>
        <p:nvSpPr>
          <p:cNvPr id="31" name="Shape 29"/>
          <p:cNvSpPr/>
          <p:nvPr/>
        </p:nvSpPr>
        <p:spPr>
          <a:xfrm>
            <a:off x="640080" y="5303520"/>
            <a:ext cx="1371600" cy="438912"/>
          </a:xfrm>
          <a:prstGeom prst="roundRect">
            <a:avLst>
              <a:gd name="adj" fmla="val 10417"/>
            </a:avLst>
          </a:prstGeom>
          <a:solidFill>
            <a:srgbClr val="028090"/>
          </a:solidFill>
          <a:ln/>
        </p:spPr>
      </p:sp>
      <p:sp>
        <p:nvSpPr>
          <p:cNvPr id="32" name="Text 30"/>
          <p:cNvSpPr txBox="1"/>
          <p:nvPr/>
        </p:nvSpPr>
        <p:spPr>
          <a:xfrm>
            <a:off x="640080" y="5303520"/>
            <a:ext cx="137160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76–84 min</a:t>
            </a:r>
            <a:endParaRPr lang="en-US" sz="1200" dirty="0"/>
          </a:p>
        </p:txBody>
      </p:sp>
      <p:sp>
        <p:nvSpPr>
          <p:cNvPr id="33" name="Text 31"/>
          <p:cNvSpPr txBox="1"/>
          <p:nvPr/>
        </p:nvSpPr>
        <p:spPr>
          <a:xfrm>
            <a:off x="2194560" y="5303520"/>
            <a:ext cx="6949440" cy="438912"/>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Deploy to a public URL</a:t>
            </a:r>
            <a:endParaRPr lang="en-US" sz="1500" dirty="0"/>
          </a:p>
        </p:txBody>
      </p:sp>
      <p:sp>
        <p:nvSpPr>
          <p:cNvPr id="34" name="Text 32"/>
          <p:cNvSpPr txBox="1"/>
          <p:nvPr/>
        </p:nvSpPr>
        <p:spPr>
          <a:xfrm>
            <a:off x="9326880" y="5303520"/>
            <a:ext cx="2103120" cy="438912"/>
          </a:xfrm>
          <a:prstGeom prst="rect">
            <a:avLst/>
          </a:prstGeom>
          <a:noFill/>
          <a:ln/>
        </p:spPr>
        <p:txBody>
          <a:bodyPr wrap="square" lIns="0" tIns="0" rIns="0" bIns="0" rtlCol="0" anchor="ctr"/>
          <a:lstStyle/>
          <a:p>
            <a:pPr algn="r" indent="0" marL="0">
              <a:buNone/>
            </a:pPr>
            <a:r>
              <a:rPr lang="en-US" sz="1200" i="1" dirty="0">
                <a:solidFill>
                  <a:srgbClr val="5E6F73"/>
                </a:solidFill>
                <a:latin typeface="Calibri" pitchFamily="34" charset="0"/>
                <a:ea typeface="Calibri" pitchFamily="34" charset="-122"/>
                <a:cs typeface="Calibri" pitchFamily="34" charset="-120"/>
              </a:rPr>
              <a:t>browser</a:t>
            </a:r>
            <a:endParaRPr lang="en-US" sz="1200" dirty="0"/>
          </a:p>
        </p:txBody>
      </p:sp>
      <p:sp>
        <p:nvSpPr>
          <p:cNvPr id="35" name="Shape 33"/>
          <p:cNvSpPr/>
          <p:nvPr/>
        </p:nvSpPr>
        <p:spPr>
          <a:xfrm>
            <a:off x="640080" y="5852160"/>
            <a:ext cx="1371600" cy="438912"/>
          </a:xfrm>
          <a:prstGeom prst="roundRect">
            <a:avLst>
              <a:gd name="adj" fmla="val 10417"/>
            </a:avLst>
          </a:prstGeom>
          <a:solidFill>
            <a:srgbClr val="028090"/>
          </a:solidFill>
          <a:ln/>
        </p:spPr>
      </p:sp>
      <p:sp>
        <p:nvSpPr>
          <p:cNvPr id="36" name="Text 34"/>
          <p:cNvSpPr txBox="1"/>
          <p:nvPr/>
        </p:nvSpPr>
        <p:spPr>
          <a:xfrm>
            <a:off x="640080" y="5852160"/>
            <a:ext cx="137160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84–90 min</a:t>
            </a:r>
            <a:endParaRPr lang="en-US" sz="1200" dirty="0"/>
          </a:p>
        </p:txBody>
      </p:sp>
      <p:sp>
        <p:nvSpPr>
          <p:cNvPr id="37" name="Text 35"/>
          <p:cNvSpPr txBox="1"/>
          <p:nvPr/>
        </p:nvSpPr>
        <p:spPr>
          <a:xfrm>
            <a:off x="2194560" y="5852160"/>
            <a:ext cx="6949440" cy="438912"/>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Q&amp;A + where to go next</a:t>
            </a:r>
            <a:endParaRPr lang="en-US" sz="1500" dirty="0"/>
          </a:p>
        </p:txBody>
      </p:sp>
      <p:sp>
        <p:nvSpPr>
          <p:cNvPr id="38" name="Text 36"/>
          <p:cNvSpPr txBox="1"/>
          <p:nvPr/>
        </p:nvSpPr>
        <p:spPr>
          <a:xfrm>
            <a:off x="9326880" y="5852160"/>
            <a:ext cx="2103120" cy="438912"/>
          </a:xfrm>
          <a:prstGeom prst="rect">
            <a:avLst/>
          </a:prstGeom>
          <a:noFill/>
          <a:ln/>
        </p:spPr>
        <p:txBody>
          <a:bodyPr wrap="square" lIns="0" tIns="0" rIns="0" bIns="0" rtlCol="0" anchor="ctr"/>
          <a:lstStyle/>
          <a:p>
            <a:pPr algn="r" indent="0" marL="0">
              <a:buNone/>
            </a:pPr>
            <a:r>
              <a:rPr lang="en-US" sz="1200" i="1" dirty="0">
                <a:solidFill>
                  <a:srgbClr val="5E6F73"/>
                </a:solidFill>
                <a:latin typeface="Calibri" pitchFamily="34" charset="0"/>
                <a:ea typeface="Calibri" pitchFamily="34" charset="-122"/>
                <a:cs typeface="Calibri" pitchFamily="34" charset="-120"/>
              </a:rPr>
              <a:t>slides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731520"/>
          </a:xfrm>
          <a:prstGeom prst="rect">
            <a:avLst/>
          </a:prstGeom>
          <a:noFill/>
          <a:ln/>
        </p:spPr>
        <p:txBody>
          <a:bodyPr wrap="square" rtlCol="0" anchor="ctr"/>
          <a:lstStyle/>
          <a:p>
            <a:pPr indent="0" marL="0">
              <a:buNone/>
            </a:pPr>
            <a:r>
              <a:rPr lang="en-US" sz="4000" b="1" dirty="0">
                <a:solidFill>
                  <a:srgbClr val="0E2A33"/>
                </a:solidFill>
                <a:latin typeface="Cambria" pitchFamily="34" charset="0"/>
                <a:ea typeface="Cambria" pitchFamily="34" charset="-122"/>
                <a:cs typeface="Cambria" pitchFamily="34" charset="-120"/>
              </a:rPr>
              <a:t>Concept 1 — Chunking</a:t>
            </a:r>
            <a:endParaRPr lang="en-US" sz="4000" dirty="0"/>
          </a:p>
        </p:txBody>
      </p:sp>
      <p:sp>
        <p:nvSpPr>
          <p:cNvPr id="3" name="Text 1"/>
          <p:cNvSpPr txBox="1"/>
          <p:nvPr/>
        </p:nvSpPr>
        <p:spPr>
          <a:xfrm>
            <a:off x="640080" y="1234440"/>
            <a:ext cx="10515600" cy="457200"/>
          </a:xfrm>
          <a:prstGeom prst="rect">
            <a:avLst/>
          </a:prstGeom>
          <a:noFill/>
          <a:ln/>
        </p:spPr>
        <p:txBody>
          <a:bodyPr wrap="square" rtlCol="0" anchor="ctr"/>
          <a:lstStyle/>
          <a:p>
            <a:pPr indent="0" marL="0">
              <a:buNone/>
            </a:pPr>
            <a:r>
              <a:rPr lang="en-US" sz="1700" dirty="0">
                <a:solidFill>
                  <a:srgbClr val="5E6F73"/>
                </a:solidFill>
                <a:latin typeface="Calibri" pitchFamily="34" charset="0"/>
                <a:ea typeface="Calibri" pitchFamily="34" charset="-122"/>
                <a:cs typeface="Calibri" pitchFamily="34" charset="-120"/>
              </a:rPr>
              <a:t>Split the document into small, overlapping pieces so retrieval is precise.</a:t>
            </a:r>
            <a:endParaRPr lang="en-US" sz="1700" dirty="0"/>
          </a:p>
        </p:txBody>
      </p:sp>
      <p:sp>
        <p:nvSpPr>
          <p:cNvPr id="4" name="Text 2"/>
          <p:cNvSpPr txBox="1"/>
          <p:nvPr/>
        </p:nvSpPr>
        <p:spPr>
          <a:xfrm>
            <a:off x="640080" y="2011680"/>
            <a:ext cx="5486400" cy="32004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One long document</a:t>
            </a:r>
            <a:endParaRPr lang="en-US" sz="1300" dirty="0"/>
          </a:p>
        </p:txBody>
      </p:sp>
      <p:sp>
        <p:nvSpPr>
          <p:cNvPr id="5" name="Shape 3"/>
          <p:cNvSpPr/>
          <p:nvPr/>
        </p:nvSpPr>
        <p:spPr>
          <a:xfrm>
            <a:off x="640080" y="2377440"/>
            <a:ext cx="10881360" cy="457200"/>
          </a:xfrm>
          <a:prstGeom prst="roundRect">
            <a:avLst>
              <a:gd name="adj" fmla="val 10000"/>
            </a:avLst>
          </a:prstGeom>
          <a:solidFill>
            <a:srgbClr val="DDE9E9"/>
          </a:solidFill>
          <a:ln/>
        </p:spPr>
      </p:sp>
      <p:sp>
        <p:nvSpPr>
          <p:cNvPr id="6" name="Text 4"/>
          <p:cNvSpPr txBox="1"/>
          <p:nvPr/>
        </p:nvSpPr>
        <p:spPr>
          <a:xfrm>
            <a:off x="640080" y="3200400"/>
            <a:ext cx="5486400" cy="32004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Overlapping chunks</a:t>
            </a:r>
            <a:endParaRPr lang="en-US" sz="1300" dirty="0"/>
          </a:p>
        </p:txBody>
      </p:sp>
      <p:sp>
        <p:nvSpPr>
          <p:cNvPr id="7" name="Shape 5"/>
          <p:cNvSpPr/>
          <p:nvPr/>
        </p:nvSpPr>
        <p:spPr>
          <a:xfrm>
            <a:off x="640080" y="3566160"/>
            <a:ext cx="2468880" cy="640080"/>
          </a:xfrm>
          <a:prstGeom prst="roundRect">
            <a:avLst>
              <a:gd name="adj" fmla="val 8571"/>
            </a:avLst>
          </a:prstGeom>
          <a:solidFill>
            <a:srgbClr val="A2D9CE"/>
          </a:solidFill>
          <a:ln w="12700">
            <a:solidFill>
              <a:srgbClr val="028090"/>
            </a:solidFill>
            <a:prstDash val="solid"/>
          </a:ln>
        </p:spPr>
      </p:sp>
      <p:sp>
        <p:nvSpPr>
          <p:cNvPr id="8" name="Text 6"/>
          <p:cNvSpPr txBox="1"/>
          <p:nvPr/>
        </p:nvSpPr>
        <p:spPr>
          <a:xfrm>
            <a:off x="640080" y="3566160"/>
            <a:ext cx="2468880" cy="640080"/>
          </a:xfrm>
          <a:prstGeom prst="rect">
            <a:avLst/>
          </a:prstGeom>
          <a:noFill/>
          <a:ln/>
        </p:spPr>
        <p:txBody>
          <a:bodyPr wrap="square" lIns="0" tIns="0" rIns="0" bIns="0" rtlCol="0" anchor="ctr"/>
          <a:lstStyle/>
          <a:p>
            <a:pPr algn="ctr" indent="0" marL="0">
              <a:buNone/>
            </a:pPr>
            <a:r>
              <a:rPr lang="en-US" sz="1200" b="1" dirty="0">
                <a:solidFill>
                  <a:srgbClr val="0E2A33"/>
                </a:solidFill>
                <a:latin typeface="Calibri" pitchFamily="34" charset="0"/>
                <a:ea typeface="Calibri" pitchFamily="34" charset="-122"/>
                <a:cs typeface="Calibri" pitchFamily="34" charset="-120"/>
              </a:rPr>
              <a:t>chunk 1</a:t>
            </a:r>
            <a:endParaRPr lang="en-US" sz="1200" dirty="0"/>
          </a:p>
        </p:txBody>
      </p:sp>
      <p:sp>
        <p:nvSpPr>
          <p:cNvPr id="9" name="Shape 7"/>
          <p:cNvSpPr/>
          <p:nvPr/>
        </p:nvSpPr>
        <p:spPr>
          <a:xfrm>
            <a:off x="2724912" y="3566160"/>
            <a:ext cx="2468880" cy="640080"/>
          </a:xfrm>
          <a:prstGeom prst="roundRect">
            <a:avLst>
              <a:gd name="adj" fmla="val 8571"/>
            </a:avLst>
          </a:prstGeom>
          <a:solidFill>
            <a:srgbClr val="8CCFC0"/>
          </a:solidFill>
          <a:ln w="12700">
            <a:solidFill>
              <a:srgbClr val="028090"/>
            </a:solidFill>
            <a:prstDash val="solid"/>
          </a:ln>
        </p:spPr>
      </p:sp>
      <p:sp>
        <p:nvSpPr>
          <p:cNvPr id="10" name="Text 8"/>
          <p:cNvSpPr txBox="1"/>
          <p:nvPr/>
        </p:nvSpPr>
        <p:spPr>
          <a:xfrm>
            <a:off x="2724912" y="3566160"/>
            <a:ext cx="2468880" cy="640080"/>
          </a:xfrm>
          <a:prstGeom prst="rect">
            <a:avLst/>
          </a:prstGeom>
          <a:noFill/>
          <a:ln/>
        </p:spPr>
        <p:txBody>
          <a:bodyPr wrap="square" lIns="0" tIns="0" rIns="0" bIns="0" rtlCol="0" anchor="ctr"/>
          <a:lstStyle/>
          <a:p>
            <a:pPr algn="ctr" indent="0" marL="0">
              <a:buNone/>
            </a:pPr>
            <a:r>
              <a:rPr lang="en-US" sz="1200" b="1" dirty="0">
                <a:solidFill>
                  <a:srgbClr val="0E2A33"/>
                </a:solidFill>
                <a:latin typeface="Calibri" pitchFamily="34" charset="0"/>
                <a:ea typeface="Calibri" pitchFamily="34" charset="-122"/>
                <a:cs typeface="Calibri" pitchFamily="34" charset="-120"/>
              </a:rPr>
              <a:t>chunk 2</a:t>
            </a:r>
            <a:endParaRPr lang="en-US" sz="1200" dirty="0"/>
          </a:p>
        </p:txBody>
      </p:sp>
      <p:sp>
        <p:nvSpPr>
          <p:cNvPr id="11" name="Shape 9"/>
          <p:cNvSpPr/>
          <p:nvPr/>
        </p:nvSpPr>
        <p:spPr>
          <a:xfrm>
            <a:off x="4809744" y="3566160"/>
            <a:ext cx="2468880" cy="640080"/>
          </a:xfrm>
          <a:prstGeom prst="roundRect">
            <a:avLst>
              <a:gd name="adj" fmla="val 8571"/>
            </a:avLst>
          </a:prstGeom>
          <a:solidFill>
            <a:srgbClr val="A2D9CE"/>
          </a:solidFill>
          <a:ln w="12700">
            <a:solidFill>
              <a:srgbClr val="028090"/>
            </a:solidFill>
            <a:prstDash val="solid"/>
          </a:ln>
        </p:spPr>
      </p:sp>
      <p:sp>
        <p:nvSpPr>
          <p:cNvPr id="12" name="Text 10"/>
          <p:cNvSpPr txBox="1"/>
          <p:nvPr/>
        </p:nvSpPr>
        <p:spPr>
          <a:xfrm>
            <a:off x="4809744" y="3566160"/>
            <a:ext cx="2468880" cy="640080"/>
          </a:xfrm>
          <a:prstGeom prst="rect">
            <a:avLst/>
          </a:prstGeom>
          <a:noFill/>
          <a:ln/>
        </p:spPr>
        <p:txBody>
          <a:bodyPr wrap="square" lIns="0" tIns="0" rIns="0" bIns="0" rtlCol="0" anchor="ctr"/>
          <a:lstStyle/>
          <a:p>
            <a:pPr algn="ctr" indent="0" marL="0">
              <a:buNone/>
            </a:pPr>
            <a:r>
              <a:rPr lang="en-US" sz="1200" b="1" dirty="0">
                <a:solidFill>
                  <a:srgbClr val="0E2A33"/>
                </a:solidFill>
                <a:latin typeface="Calibri" pitchFamily="34" charset="0"/>
                <a:ea typeface="Calibri" pitchFamily="34" charset="-122"/>
                <a:cs typeface="Calibri" pitchFamily="34" charset="-120"/>
              </a:rPr>
              <a:t>chunk 3</a:t>
            </a:r>
            <a:endParaRPr lang="en-US" sz="1200" dirty="0"/>
          </a:p>
        </p:txBody>
      </p:sp>
      <p:sp>
        <p:nvSpPr>
          <p:cNvPr id="13" name="Shape 11"/>
          <p:cNvSpPr/>
          <p:nvPr/>
        </p:nvSpPr>
        <p:spPr>
          <a:xfrm>
            <a:off x="6894576" y="3566160"/>
            <a:ext cx="2468880" cy="640080"/>
          </a:xfrm>
          <a:prstGeom prst="roundRect">
            <a:avLst>
              <a:gd name="adj" fmla="val 8571"/>
            </a:avLst>
          </a:prstGeom>
          <a:solidFill>
            <a:srgbClr val="8CCFC0"/>
          </a:solidFill>
          <a:ln w="12700">
            <a:solidFill>
              <a:srgbClr val="028090"/>
            </a:solidFill>
            <a:prstDash val="solid"/>
          </a:ln>
        </p:spPr>
      </p:sp>
      <p:sp>
        <p:nvSpPr>
          <p:cNvPr id="14" name="Text 12"/>
          <p:cNvSpPr txBox="1"/>
          <p:nvPr/>
        </p:nvSpPr>
        <p:spPr>
          <a:xfrm>
            <a:off x="6894576" y="3566160"/>
            <a:ext cx="2468880" cy="640080"/>
          </a:xfrm>
          <a:prstGeom prst="rect">
            <a:avLst/>
          </a:prstGeom>
          <a:noFill/>
          <a:ln/>
        </p:spPr>
        <p:txBody>
          <a:bodyPr wrap="square" lIns="0" tIns="0" rIns="0" bIns="0" rtlCol="0" anchor="ctr"/>
          <a:lstStyle/>
          <a:p>
            <a:pPr algn="ctr" indent="0" marL="0">
              <a:buNone/>
            </a:pPr>
            <a:r>
              <a:rPr lang="en-US" sz="1200" b="1" dirty="0">
                <a:solidFill>
                  <a:srgbClr val="0E2A33"/>
                </a:solidFill>
                <a:latin typeface="Calibri" pitchFamily="34" charset="0"/>
                <a:ea typeface="Calibri" pitchFamily="34" charset="-122"/>
                <a:cs typeface="Calibri" pitchFamily="34" charset="-120"/>
              </a:rPr>
              <a:t>chunk 4</a:t>
            </a:r>
            <a:endParaRPr lang="en-US" sz="1200" dirty="0"/>
          </a:p>
        </p:txBody>
      </p:sp>
      <p:sp>
        <p:nvSpPr>
          <p:cNvPr id="15" name="Shape 13"/>
          <p:cNvSpPr/>
          <p:nvPr/>
        </p:nvSpPr>
        <p:spPr>
          <a:xfrm>
            <a:off x="8979408" y="3566160"/>
            <a:ext cx="2468880" cy="640080"/>
          </a:xfrm>
          <a:prstGeom prst="roundRect">
            <a:avLst>
              <a:gd name="adj" fmla="val 8571"/>
            </a:avLst>
          </a:prstGeom>
          <a:solidFill>
            <a:srgbClr val="A2D9CE"/>
          </a:solidFill>
          <a:ln w="12700">
            <a:solidFill>
              <a:srgbClr val="028090"/>
            </a:solidFill>
            <a:prstDash val="solid"/>
          </a:ln>
        </p:spPr>
      </p:sp>
      <p:sp>
        <p:nvSpPr>
          <p:cNvPr id="16" name="Text 14"/>
          <p:cNvSpPr txBox="1"/>
          <p:nvPr/>
        </p:nvSpPr>
        <p:spPr>
          <a:xfrm>
            <a:off x="8979408" y="3566160"/>
            <a:ext cx="2468880" cy="640080"/>
          </a:xfrm>
          <a:prstGeom prst="rect">
            <a:avLst/>
          </a:prstGeom>
          <a:noFill/>
          <a:ln/>
        </p:spPr>
        <p:txBody>
          <a:bodyPr wrap="square" lIns="0" tIns="0" rIns="0" bIns="0" rtlCol="0" anchor="ctr"/>
          <a:lstStyle/>
          <a:p>
            <a:pPr algn="ctr" indent="0" marL="0">
              <a:buNone/>
            </a:pPr>
            <a:r>
              <a:rPr lang="en-US" sz="1200" b="1" dirty="0">
                <a:solidFill>
                  <a:srgbClr val="0E2A33"/>
                </a:solidFill>
                <a:latin typeface="Calibri" pitchFamily="34" charset="0"/>
                <a:ea typeface="Calibri" pitchFamily="34" charset="-122"/>
                <a:cs typeface="Calibri" pitchFamily="34" charset="-120"/>
              </a:rPr>
              <a:t>chunk 5</a:t>
            </a:r>
            <a:endParaRPr lang="en-US" sz="1200" dirty="0"/>
          </a:p>
        </p:txBody>
      </p:sp>
      <p:sp>
        <p:nvSpPr>
          <p:cNvPr id="17" name="Shape 15"/>
          <p:cNvSpPr/>
          <p:nvPr/>
        </p:nvSpPr>
        <p:spPr>
          <a:xfrm>
            <a:off x="640080" y="4617720"/>
            <a:ext cx="10881360" cy="1554480"/>
          </a:xfrm>
          <a:prstGeom prst="roundRect">
            <a:avLst>
              <a:gd name="adj" fmla="val 5294"/>
            </a:avLst>
          </a:prstGeom>
          <a:solidFill>
            <a:srgbClr val="E8F5F2"/>
          </a:solidFill>
          <a:ln w="12700">
            <a:solidFill>
              <a:srgbClr val="D5E0E1"/>
            </a:solidFill>
            <a:prstDash val="solid"/>
          </a:ln>
          <a:effectLst>
            <a:outerShdw sx="100000" sy="100000" kx="0" ky="0" algn="bl" rotWithShape="0" blurRad="101600" dist="38100" dir="5400000">
              <a:srgbClr val="9BB0B3">
                <a:alpha val="35000"/>
              </a:srgbClr>
            </a:outerShdw>
          </a:effectLst>
        </p:spPr>
      </p:sp>
      <p:sp>
        <p:nvSpPr>
          <p:cNvPr id="18" name="Text 16"/>
          <p:cNvSpPr txBox="1"/>
          <p:nvPr/>
        </p:nvSpPr>
        <p:spPr>
          <a:xfrm>
            <a:off x="914400" y="4800600"/>
            <a:ext cx="10332720" cy="11887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Why overlap?  </a:t>
            </a:r>
            <a:pPr indent="0" marL="0">
              <a:buNone/>
            </a:pPr>
            <a:r>
              <a:rPr lang="en-US" sz="1500" dirty="0">
                <a:solidFill>
                  <a:srgbClr val="16272C"/>
                </a:solidFill>
                <a:latin typeface="Calibri" pitchFamily="34" charset="0"/>
                <a:ea typeface="Calibri" pitchFamily="34" charset="-122"/>
                <a:cs typeface="Calibri" pitchFamily="34" charset="-120"/>
              </a:rPr>
              <a:t>A sentence split across a boundary stays findable from either side. </a:t>
            </a:r>
            <a:pPr indent="0" marL="0">
              <a:buNone/>
            </a:pPr>
            <a:r>
              <a:rPr lang="en-US" sz="1500" dirty="0">
                <a:solidFill>
                  <a:srgbClr val="5E6F73"/>
                </a:solidFill>
                <a:latin typeface="Calibri" pitchFamily="34" charset="0"/>
                <a:ea typeface="Calibri" pitchFamily="34" charset="-122"/>
                <a:cs typeface="Calibri" pitchFamily="34" charset="-120"/>
              </a:rPr>
              <a:t>Our defaults: 500-character chunks, 100-character overlap — tune them live in the app.</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640080" y="457200"/>
            <a:ext cx="10972800" cy="731520"/>
          </a:xfrm>
          <a:prstGeom prst="rect">
            <a:avLst/>
          </a:prstGeom>
          <a:noFill/>
          <a:ln/>
        </p:spPr>
        <p:txBody>
          <a:bodyPr wrap="square" rtlCol="0" anchor="ctr"/>
          <a:lstStyle/>
          <a:p>
            <a:pPr indent="0" marL="0">
              <a:buNone/>
            </a:pPr>
            <a:r>
              <a:rPr lang="en-US" sz="3800" b="1" dirty="0">
                <a:solidFill>
                  <a:srgbClr val="0E2A33"/>
                </a:solidFill>
                <a:latin typeface="Cambria" pitchFamily="34" charset="0"/>
                <a:ea typeface="Cambria" pitchFamily="34" charset="-122"/>
                <a:cs typeface="Cambria" pitchFamily="34" charset="-120"/>
              </a:rPr>
              <a:t>Concept 2 — Embeddings &amp; similarity</a:t>
            </a:r>
            <a:endParaRPr lang="en-US" sz="3800" dirty="0"/>
          </a:p>
        </p:txBody>
      </p:sp>
      <p:sp>
        <p:nvSpPr>
          <p:cNvPr id="3" name="Text 1"/>
          <p:cNvSpPr txBox="1"/>
          <p:nvPr/>
        </p:nvSpPr>
        <p:spPr>
          <a:xfrm>
            <a:off x="640080" y="1234440"/>
            <a:ext cx="10789920" cy="457200"/>
          </a:xfrm>
          <a:prstGeom prst="rect">
            <a:avLst/>
          </a:prstGeom>
          <a:noFill/>
          <a:ln/>
        </p:spPr>
        <p:txBody>
          <a:bodyPr wrap="square" rtlCol="0" anchor="ctr"/>
          <a:lstStyle/>
          <a:p>
            <a:pPr indent="0" marL="0">
              <a:buNone/>
            </a:pPr>
            <a:r>
              <a:rPr lang="en-US" sz="1700" dirty="0">
                <a:solidFill>
                  <a:srgbClr val="5E6F73"/>
                </a:solidFill>
                <a:latin typeface="Calibri" pitchFamily="34" charset="0"/>
                <a:ea typeface="Calibri" pitchFamily="34" charset="-122"/>
                <a:cs typeface="Calibri" pitchFamily="34" charset="-120"/>
              </a:rPr>
              <a:t>An embedding maps text to a vector so similar meanings sit close together.</a:t>
            </a:r>
            <a:endParaRPr lang="en-US" sz="1700" dirty="0"/>
          </a:p>
        </p:txBody>
      </p:sp>
      <p:sp>
        <p:nvSpPr>
          <p:cNvPr id="4" name="Shape 2"/>
          <p:cNvSpPr/>
          <p:nvPr/>
        </p:nvSpPr>
        <p:spPr>
          <a:xfrm>
            <a:off x="640080" y="2011680"/>
            <a:ext cx="5486400" cy="4023360"/>
          </a:xfrm>
          <a:prstGeom prst="roundRect">
            <a:avLst>
              <a:gd name="adj" fmla="val 2045"/>
            </a:avLst>
          </a:prstGeom>
          <a:solidFill>
            <a:srgbClr val="FFFFFF"/>
          </a:solidFill>
          <a:ln w="12700">
            <a:solidFill>
              <a:srgbClr val="D5E0E1"/>
            </a:solidFill>
            <a:prstDash val="solid"/>
          </a:ln>
          <a:effectLst>
            <a:outerShdw sx="100000" sy="100000" kx="0" ky="0" algn="bl" rotWithShape="0" blurRad="101600" dist="38100" dir="5400000">
              <a:srgbClr val="9BB0B3">
                <a:alpha val="35000"/>
              </a:srgbClr>
            </a:outerShdw>
          </a:effectLst>
        </p:spPr>
      </p:sp>
      <p:sp>
        <p:nvSpPr>
          <p:cNvPr id="5" name="Text 3"/>
          <p:cNvSpPr txBox="1"/>
          <p:nvPr/>
        </p:nvSpPr>
        <p:spPr>
          <a:xfrm>
            <a:off x="914400" y="2194560"/>
            <a:ext cx="4937760" cy="36576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Similar meaning → small angle</a:t>
            </a:r>
            <a:endParaRPr lang="en-US" sz="1600" dirty="0"/>
          </a:p>
        </p:txBody>
      </p:sp>
      <p:sp>
        <p:nvSpPr>
          <p:cNvPr id="6" name="Shape 4"/>
          <p:cNvSpPr/>
          <p:nvPr/>
        </p:nvSpPr>
        <p:spPr>
          <a:xfrm>
            <a:off x="1463040" y="5486400"/>
            <a:ext cx="3840480" cy="0"/>
          </a:xfrm>
          <a:prstGeom prst="line">
            <a:avLst/>
          </a:prstGeom>
          <a:noFill/>
          <a:ln w="12700">
            <a:solidFill>
              <a:srgbClr val="D5E0E1"/>
            </a:solidFill>
            <a:prstDash val="solid"/>
          </a:ln>
        </p:spPr>
      </p:sp>
      <p:sp>
        <p:nvSpPr>
          <p:cNvPr id="7" name="Shape 5"/>
          <p:cNvSpPr/>
          <p:nvPr/>
        </p:nvSpPr>
        <p:spPr>
          <a:xfrm>
            <a:off x="1463040" y="3108960"/>
            <a:ext cx="0" cy="2377440"/>
          </a:xfrm>
          <a:prstGeom prst="line">
            <a:avLst/>
          </a:prstGeom>
          <a:noFill/>
          <a:ln w="12700">
            <a:solidFill>
              <a:srgbClr val="D5E0E1"/>
            </a:solidFill>
            <a:prstDash val="solid"/>
          </a:ln>
        </p:spPr>
      </p:sp>
      <p:sp>
        <p:nvSpPr>
          <p:cNvPr id="8" name="Shape 6"/>
          <p:cNvSpPr/>
          <p:nvPr/>
        </p:nvSpPr>
        <p:spPr>
          <a:xfrm>
            <a:off x="1463040" y="5486400"/>
            <a:ext cx="3291840" cy="-1920240"/>
          </a:xfrm>
          <a:prstGeom prst="line">
            <a:avLst/>
          </a:prstGeom>
          <a:noFill/>
          <a:ln w="31750">
            <a:solidFill>
              <a:srgbClr val="028090"/>
            </a:solidFill>
            <a:prstDash val="solid"/>
          </a:ln>
        </p:spPr>
      </p:sp>
      <p:sp>
        <p:nvSpPr>
          <p:cNvPr id="9" name="Shape 7"/>
          <p:cNvSpPr/>
          <p:nvPr/>
        </p:nvSpPr>
        <p:spPr>
          <a:xfrm>
            <a:off x="1463040" y="5486400"/>
            <a:ext cx="3566160" cy="-1463040"/>
          </a:xfrm>
          <a:prstGeom prst="line">
            <a:avLst/>
          </a:prstGeom>
          <a:noFill/>
          <a:ln w="31750">
            <a:solidFill>
              <a:srgbClr val="02C39A"/>
            </a:solidFill>
            <a:prstDash val="solid"/>
          </a:ln>
        </p:spPr>
      </p:sp>
      <p:sp>
        <p:nvSpPr>
          <p:cNvPr id="10" name="Shape 8"/>
          <p:cNvSpPr/>
          <p:nvPr/>
        </p:nvSpPr>
        <p:spPr>
          <a:xfrm>
            <a:off x="1463040" y="5486400"/>
            <a:ext cx="1188720" cy="-2194560"/>
          </a:xfrm>
          <a:prstGeom prst="line">
            <a:avLst/>
          </a:prstGeom>
          <a:noFill/>
          <a:ln w="31750">
            <a:solidFill>
              <a:srgbClr val="B85042"/>
            </a:solidFill>
            <a:prstDash val="solid"/>
          </a:ln>
        </p:spPr>
      </p:sp>
      <p:sp>
        <p:nvSpPr>
          <p:cNvPr id="11" name="Text 9"/>
          <p:cNvSpPr txBox="1"/>
          <p:nvPr/>
        </p:nvSpPr>
        <p:spPr>
          <a:xfrm>
            <a:off x="4572000" y="3337560"/>
            <a:ext cx="1188720" cy="27432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query</a:t>
            </a:r>
            <a:endParaRPr lang="en-US" sz="1100" dirty="0"/>
          </a:p>
        </p:txBody>
      </p:sp>
      <p:sp>
        <p:nvSpPr>
          <p:cNvPr id="12" name="Text 10"/>
          <p:cNvSpPr txBox="1"/>
          <p:nvPr/>
        </p:nvSpPr>
        <p:spPr>
          <a:xfrm>
            <a:off x="4754880" y="3794760"/>
            <a:ext cx="1188720" cy="274320"/>
          </a:xfrm>
          <a:prstGeom prst="rect">
            <a:avLst/>
          </a:prstGeom>
          <a:noFill/>
          <a:ln/>
        </p:spPr>
        <p:txBody>
          <a:bodyPr wrap="square" lIns="0" tIns="0" rIns="0" bIns="0"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match</a:t>
            </a:r>
            <a:endParaRPr lang="en-US" sz="1100" dirty="0"/>
          </a:p>
        </p:txBody>
      </p:sp>
      <p:sp>
        <p:nvSpPr>
          <p:cNvPr id="13" name="Text 11"/>
          <p:cNvSpPr txBox="1"/>
          <p:nvPr/>
        </p:nvSpPr>
        <p:spPr>
          <a:xfrm>
            <a:off x="2286000" y="2971800"/>
            <a:ext cx="1371600" cy="274320"/>
          </a:xfrm>
          <a:prstGeom prst="rect">
            <a:avLst/>
          </a:prstGeom>
          <a:noFill/>
          <a:ln/>
        </p:spPr>
        <p:txBody>
          <a:bodyPr wrap="square" lIns="0" tIns="0" rIns="0" bIns="0" rtlCol="0" anchor="ctr"/>
          <a:lstStyle/>
          <a:p>
            <a:pPr indent="0" marL="0">
              <a:buNone/>
            </a:pPr>
            <a:r>
              <a:rPr lang="en-US" sz="1100" b="1" dirty="0">
                <a:solidFill>
                  <a:srgbClr val="B85042"/>
                </a:solidFill>
                <a:latin typeface="Calibri" pitchFamily="34" charset="0"/>
                <a:ea typeface="Calibri" pitchFamily="34" charset="-122"/>
                <a:cs typeface="Calibri" pitchFamily="34" charset="-120"/>
              </a:rPr>
              <a:t>unrelated</a:t>
            </a:r>
            <a:endParaRPr lang="en-US" sz="1100" dirty="0"/>
          </a:p>
        </p:txBody>
      </p:sp>
      <p:sp>
        <p:nvSpPr>
          <p:cNvPr id="14" name="Shape 12"/>
          <p:cNvSpPr/>
          <p:nvPr/>
        </p:nvSpPr>
        <p:spPr>
          <a:xfrm>
            <a:off x="6309360" y="2011680"/>
            <a:ext cx="5212080" cy="4023360"/>
          </a:xfrm>
          <a:prstGeom prst="roundRect">
            <a:avLst>
              <a:gd name="adj" fmla="val 2045"/>
            </a:avLst>
          </a:prstGeom>
          <a:solidFill>
            <a:srgbClr val="0E2A33"/>
          </a:solidFill>
          <a:ln w="12700">
            <a:solidFill>
              <a:srgbClr val="D5E0E1"/>
            </a:solidFill>
            <a:prstDash val="solid"/>
          </a:ln>
          <a:effectLst>
            <a:outerShdw sx="100000" sy="100000" kx="0" ky="0" algn="bl" rotWithShape="0" blurRad="101600" dist="38100" dir="5400000">
              <a:srgbClr val="9BB0B3">
                <a:alpha val="35000"/>
              </a:srgbClr>
            </a:outerShdw>
          </a:effectLst>
        </p:spPr>
      </p:sp>
      <p:sp>
        <p:nvSpPr>
          <p:cNvPr id="15" name="Text 13"/>
          <p:cNvSpPr txBox="1"/>
          <p:nvPr/>
        </p:nvSpPr>
        <p:spPr>
          <a:xfrm>
            <a:off x="6583680" y="2194560"/>
            <a:ext cx="4754880" cy="365760"/>
          </a:xfrm>
          <a:prstGeom prst="rect">
            <a:avLst/>
          </a:prstGeom>
          <a:noFill/>
          <a:ln/>
        </p:spPr>
        <p:txBody>
          <a:bodyPr wrap="square" lIns="0" tIns="0" rIns="0" bIns="0" rtlCol="0" anchor="ctr"/>
          <a:lstStyle/>
          <a:p>
            <a:pPr indent="0" marL="0">
              <a:buNone/>
            </a:pPr>
            <a:r>
              <a:rPr lang="en-US" sz="1600" b="1" dirty="0">
                <a:solidFill>
                  <a:srgbClr val="02C39A"/>
                </a:solidFill>
                <a:latin typeface="Cambria" pitchFamily="34" charset="0"/>
                <a:ea typeface="Cambria" pitchFamily="34" charset="-122"/>
                <a:cs typeface="Cambria" pitchFamily="34" charset="-120"/>
              </a:rPr>
              <a:t>Cosine similarity, in NumPy</a:t>
            </a:r>
            <a:endParaRPr lang="en-US" sz="1600" dirty="0"/>
          </a:p>
        </p:txBody>
      </p:sp>
      <p:sp>
        <p:nvSpPr>
          <p:cNvPr id="16" name="Text 14"/>
          <p:cNvSpPr txBox="1"/>
          <p:nvPr/>
        </p:nvSpPr>
        <p:spPr>
          <a:xfrm>
            <a:off x="6583680" y="2743200"/>
            <a:ext cx="4754880" cy="1280160"/>
          </a:xfrm>
          <a:prstGeom prst="rect">
            <a:avLst/>
          </a:prstGeom>
          <a:noFill/>
          <a:ln/>
        </p:spPr>
        <p:txBody>
          <a:bodyPr wrap="square" lIns="0" tIns="0" rIns="0" bIns="0" rtlCol="0" anchor="t"/>
          <a:lstStyle/>
          <a:p>
            <a:pPr indent="0" marL="0">
              <a:buNone/>
            </a:pPr>
            <a:r>
              <a:rPr lang="en-US" sz="1400" dirty="0">
                <a:solidFill>
                  <a:srgbClr val="7FB0B2"/>
                </a:solidFill>
                <a:latin typeface="Courier New" pitchFamily="34" charset="0"/>
                <a:ea typeface="Courier New" pitchFamily="34" charset="-122"/>
                <a:cs typeface="Courier New" pitchFamily="34" charset="-120"/>
              </a:rPr>
              <a:t># vectors are normalized to length 1</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scores = chunk_vecs @ query_vec</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top = np.argsort(-scores)[:k]</a:t>
            </a:r>
            <a:endParaRPr lang="en-US" sz="1400" dirty="0"/>
          </a:p>
        </p:txBody>
      </p:sp>
      <p:sp>
        <p:nvSpPr>
          <p:cNvPr id="17" name="Text 15"/>
          <p:cNvSpPr txBox="1"/>
          <p:nvPr/>
        </p:nvSpPr>
        <p:spPr>
          <a:xfrm>
            <a:off x="6583680" y="4206240"/>
            <a:ext cx="4754880" cy="1645920"/>
          </a:xfrm>
          <a:prstGeom prst="rect">
            <a:avLst/>
          </a:prstGeom>
          <a:noFill/>
          <a:ln/>
        </p:spPr>
        <p:txBody>
          <a:bodyPr wrap="square" lIns="0" tIns="0" rIns="0" bIns="0" rtlCol="0" anchor="t"/>
          <a:lstStyle/>
          <a:p>
            <a:pPr indent="0" marL="0">
              <a:spcAft>
                <a:spcPts val="600"/>
              </a:spcAft>
              <a:buNone/>
            </a:pPr>
            <a:r>
              <a:rPr lang="en-US" sz="1400" dirty="0">
                <a:solidFill>
                  <a:srgbClr val="CFE6E6"/>
                </a:solidFill>
                <a:latin typeface="Calibri" pitchFamily="34" charset="0"/>
                <a:ea typeface="Calibri" pitchFamily="34" charset="-122"/>
                <a:cs typeface="Calibri" pitchFamily="34" charset="-120"/>
              </a:rPr>
              <a:t>Normalize each vector to length 1, and the dot product IS the cosine.</a:t>
            </a:r>
            <a:endParaRPr lang="en-US" sz="1400" dirty="0"/>
          </a:p>
          <a:p>
            <a:pPr indent="0" marL="0">
              <a:buNone/>
            </a:pPr>
            <a:r>
              <a:rPr lang="en-US" sz="1400" dirty="0">
                <a:solidFill>
                  <a:srgbClr val="CFE6E6"/>
                </a:solidFill>
                <a:latin typeface="Calibri" pitchFamily="34" charset="0"/>
                <a:ea typeface="Calibri" pitchFamily="34" charset="-122"/>
                <a:cs typeface="Calibri" pitchFamily="34" charset="-120"/>
              </a:rPr>
              <a:t>One matrix multiply scores every chunk at once. No database required.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640080" y="457200"/>
            <a:ext cx="11155680" cy="731520"/>
          </a:xfrm>
          <a:prstGeom prst="rect">
            <a:avLst/>
          </a:prstGeom>
          <a:noFill/>
          <a:ln/>
        </p:spPr>
        <p:txBody>
          <a:bodyPr wrap="square" rtlCol="0" anchor="ctr"/>
          <a:lstStyle/>
          <a:p>
            <a:pPr indent="0" marL="0">
              <a:buNone/>
            </a:pPr>
            <a:r>
              <a:rPr lang="en-US" sz="3400" b="1" dirty="0">
                <a:solidFill>
                  <a:srgbClr val="0E2A33"/>
                </a:solidFill>
                <a:latin typeface="Cambria" pitchFamily="34" charset="0"/>
                <a:ea typeface="Cambria" pitchFamily="34" charset="-122"/>
                <a:cs typeface="Cambria" pitchFamily="34" charset="-120"/>
              </a:rPr>
              <a:t>Concept 3 — Retrieve, then ground the answer</a:t>
            </a:r>
            <a:endParaRPr lang="en-US" sz="3400" dirty="0"/>
          </a:p>
        </p:txBody>
      </p:sp>
      <p:sp>
        <p:nvSpPr>
          <p:cNvPr id="3" name="Text 1"/>
          <p:cNvSpPr txBox="1"/>
          <p:nvPr/>
        </p:nvSpPr>
        <p:spPr>
          <a:xfrm>
            <a:off x="640080" y="1234440"/>
            <a:ext cx="10972800" cy="457200"/>
          </a:xfrm>
          <a:prstGeom prst="rect">
            <a:avLst/>
          </a:prstGeom>
          <a:noFill/>
          <a:ln/>
        </p:spPr>
        <p:txBody>
          <a:bodyPr wrap="square" rtlCol="0" anchor="ctr"/>
          <a:lstStyle/>
          <a:p>
            <a:pPr indent="0" marL="0">
              <a:buNone/>
            </a:pPr>
            <a:r>
              <a:rPr lang="en-US" sz="1600" dirty="0">
                <a:solidFill>
                  <a:srgbClr val="5E6F73"/>
                </a:solidFill>
                <a:latin typeface="Calibri" pitchFamily="34" charset="0"/>
                <a:ea typeface="Calibri" pitchFamily="34" charset="-122"/>
                <a:cs typeface="Calibri" pitchFamily="34" charset="-120"/>
              </a:rPr>
              <a:t>Take the top-k chunks and put them in the prompt. The model may only use what it's given.</a:t>
            </a:r>
            <a:endParaRPr lang="en-US" sz="1600" dirty="0"/>
          </a:p>
        </p:txBody>
      </p:sp>
      <p:sp>
        <p:nvSpPr>
          <p:cNvPr id="4" name="Shape 2"/>
          <p:cNvSpPr/>
          <p:nvPr/>
        </p:nvSpPr>
        <p:spPr>
          <a:xfrm>
            <a:off x="640080" y="2103120"/>
            <a:ext cx="2606040" cy="1097280"/>
          </a:xfrm>
          <a:prstGeom prst="roundRect">
            <a:avLst>
              <a:gd name="adj" fmla="val 6667"/>
            </a:avLst>
          </a:prstGeom>
          <a:solidFill>
            <a:srgbClr val="FFFFFF"/>
          </a:solidFill>
          <a:ln w="15875">
            <a:solidFill>
              <a:srgbClr val="028090"/>
            </a:solidFill>
            <a:prstDash val="solid"/>
          </a:ln>
        </p:spPr>
      </p:sp>
      <p:sp>
        <p:nvSpPr>
          <p:cNvPr id="5" name="Text 3"/>
          <p:cNvSpPr txBox="1"/>
          <p:nvPr/>
        </p:nvSpPr>
        <p:spPr>
          <a:xfrm>
            <a:off x="731520" y="2103120"/>
            <a:ext cx="2423160" cy="1097280"/>
          </a:xfrm>
          <a:prstGeom prst="rect">
            <a:avLst/>
          </a:prstGeom>
          <a:noFill/>
          <a:ln/>
        </p:spPr>
        <p:txBody>
          <a:bodyPr wrap="square" lIns="0" tIns="0" rIns="0" bIns="0" rtlCol="0" anchor="ctr"/>
          <a:lstStyle/>
          <a:p>
            <a:pPr algn="ctr" indent="0" marL="0">
              <a:buNone/>
            </a:pPr>
            <a:r>
              <a:rPr lang="en-US" sz="1500" b="1" dirty="0">
                <a:solidFill>
                  <a:srgbClr val="0E2A33"/>
                </a:solidFill>
                <a:latin typeface="Cambria" pitchFamily="34" charset="0"/>
                <a:ea typeface="Cambria" pitchFamily="34" charset="-122"/>
                <a:cs typeface="Cambria" pitchFamily="34" charset="-120"/>
              </a:rPr>
              <a:t>Question</a:t>
            </a:r>
            <a:endParaRPr lang="en-US" sz="1500" dirty="0"/>
          </a:p>
        </p:txBody>
      </p:sp>
      <p:sp>
        <p:nvSpPr>
          <p:cNvPr id="6" name="Text 4"/>
          <p:cNvSpPr txBox="1"/>
          <p:nvPr/>
        </p:nvSpPr>
        <p:spPr>
          <a:xfrm>
            <a:off x="3246120" y="2103120"/>
            <a:ext cx="274320" cy="1097280"/>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a:t>
            </a:r>
            <a:endParaRPr lang="en-US" sz="2000" dirty="0"/>
          </a:p>
        </p:txBody>
      </p:sp>
      <p:sp>
        <p:nvSpPr>
          <p:cNvPr id="7" name="Shape 5"/>
          <p:cNvSpPr/>
          <p:nvPr/>
        </p:nvSpPr>
        <p:spPr>
          <a:xfrm>
            <a:off x="3520440" y="2103120"/>
            <a:ext cx="2606040" cy="1097280"/>
          </a:xfrm>
          <a:prstGeom prst="roundRect">
            <a:avLst>
              <a:gd name="adj" fmla="val 6667"/>
            </a:avLst>
          </a:prstGeom>
          <a:solidFill>
            <a:srgbClr val="E8F5F2"/>
          </a:solidFill>
          <a:ln w="15875">
            <a:solidFill>
              <a:srgbClr val="028090"/>
            </a:solidFill>
            <a:prstDash val="solid"/>
          </a:ln>
        </p:spPr>
      </p:sp>
      <p:sp>
        <p:nvSpPr>
          <p:cNvPr id="8" name="Text 6"/>
          <p:cNvSpPr txBox="1"/>
          <p:nvPr/>
        </p:nvSpPr>
        <p:spPr>
          <a:xfrm>
            <a:off x="3611880" y="2103120"/>
            <a:ext cx="2423160" cy="1097280"/>
          </a:xfrm>
          <a:prstGeom prst="rect">
            <a:avLst/>
          </a:prstGeom>
          <a:noFill/>
          <a:ln/>
        </p:spPr>
        <p:txBody>
          <a:bodyPr wrap="square" lIns="0" tIns="0" rIns="0" bIns="0" rtlCol="0" anchor="ctr"/>
          <a:lstStyle/>
          <a:p>
            <a:pPr algn="ctr" indent="0" marL="0">
              <a:buNone/>
            </a:pPr>
            <a:r>
              <a:rPr lang="en-US" sz="1500" b="1" dirty="0">
                <a:solidFill>
                  <a:srgbClr val="0E2A33"/>
                </a:solidFill>
                <a:latin typeface="Cambria" pitchFamily="34" charset="0"/>
                <a:ea typeface="Cambria" pitchFamily="34" charset="-122"/>
                <a:cs typeface="Cambria" pitchFamily="34" charset="-120"/>
              </a:rPr>
              <a:t>Top-3 chunks</a:t>
            </a:r>
            <a:endParaRPr lang="en-US" sz="1500" dirty="0"/>
          </a:p>
        </p:txBody>
      </p:sp>
      <p:sp>
        <p:nvSpPr>
          <p:cNvPr id="9" name="Text 7"/>
          <p:cNvSpPr txBox="1"/>
          <p:nvPr/>
        </p:nvSpPr>
        <p:spPr>
          <a:xfrm>
            <a:off x="6126480" y="2103120"/>
            <a:ext cx="274320" cy="1097280"/>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6400800" y="2103120"/>
            <a:ext cx="2606040" cy="1097280"/>
          </a:xfrm>
          <a:prstGeom prst="roundRect">
            <a:avLst>
              <a:gd name="adj" fmla="val 6667"/>
            </a:avLst>
          </a:prstGeom>
          <a:solidFill>
            <a:srgbClr val="E8F5F2"/>
          </a:solidFill>
          <a:ln w="15875">
            <a:solidFill>
              <a:srgbClr val="028090"/>
            </a:solidFill>
            <a:prstDash val="solid"/>
          </a:ln>
        </p:spPr>
      </p:sp>
      <p:sp>
        <p:nvSpPr>
          <p:cNvPr id="11" name="Text 9"/>
          <p:cNvSpPr txBox="1"/>
          <p:nvPr/>
        </p:nvSpPr>
        <p:spPr>
          <a:xfrm>
            <a:off x="6492240" y="2103120"/>
            <a:ext cx="2423160" cy="1097280"/>
          </a:xfrm>
          <a:prstGeom prst="rect">
            <a:avLst/>
          </a:prstGeom>
          <a:noFill/>
          <a:ln/>
        </p:spPr>
        <p:txBody>
          <a:bodyPr wrap="square" lIns="0" tIns="0" rIns="0" bIns="0" rtlCol="0" anchor="ctr"/>
          <a:lstStyle/>
          <a:p>
            <a:pPr algn="ctr" indent="0" marL="0">
              <a:buNone/>
            </a:pPr>
            <a:r>
              <a:rPr lang="en-US" sz="1500" b="1" dirty="0">
                <a:solidFill>
                  <a:srgbClr val="0E2A33"/>
                </a:solidFill>
                <a:latin typeface="Cambria" pitchFamily="34" charset="0"/>
                <a:ea typeface="Cambria" pitchFamily="34" charset="-122"/>
                <a:cs typeface="Cambria" pitchFamily="34" charset="-120"/>
              </a:rPr>
              <a:t>Prompt with context</a:t>
            </a:r>
            <a:endParaRPr lang="en-US" sz="1500" dirty="0"/>
          </a:p>
        </p:txBody>
      </p:sp>
      <p:sp>
        <p:nvSpPr>
          <p:cNvPr id="12" name="Text 10"/>
          <p:cNvSpPr txBox="1"/>
          <p:nvPr/>
        </p:nvSpPr>
        <p:spPr>
          <a:xfrm>
            <a:off x="9006840" y="2103120"/>
            <a:ext cx="274320" cy="1097280"/>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9281160" y="2103120"/>
            <a:ext cx="2606040" cy="1097280"/>
          </a:xfrm>
          <a:prstGeom prst="roundRect">
            <a:avLst>
              <a:gd name="adj" fmla="val 6667"/>
            </a:avLst>
          </a:prstGeom>
          <a:solidFill>
            <a:srgbClr val="02C39A"/>
          </a:solidFill>
          <a:ln w="15875">
            <a:solidFill>
              <a:srgbClr val="028090"/>
            </a:solidFill>
            <a:prstDash val="solid"/>
          </a:ln>
        </p:spPr>
      </p:sp>
      <p:sp>
        <p:nvSpPr>
          <p:cNvPr id="14" name="Text 12"/>
          <p:cNvSpPr txBox="1"/>
          <p:nvPr/>
        </p:nvSpPr>
        <p:spPr>
          <a:xfrm>
            <a:off x="9372600" y="2103120"/>
            <a:ext cx="2423160" cy="1097280"/>
          </a:xfrm>
          <a:prstGeom prst="rect">
            <a:avLst/>
          </a:prstGeom>
          <a:noFill/>
          <a:ln/>
        </p:spPr>
        <p:txBody>
          <a:bodyPr wrap="square" lIns="0" tIns="0" rIns="0" bIns="0" rtlCol="0" anchor="ctr"/>
          <a:lstStyle/>
          <a:p>
            <a:pPr algn="ctr" indent="0" marL="0">
              <a:buNone/>
            </a:pPr>
            <a:r>
              <a:rPr lang="en-US" sz="1500" b="1" dirty="0">
                <a:solidFill>
                  <a:srgbClr val="0E2A33"/>
                </a:solidFill>
                <a:latin typeface="Cambria" pitchFamily="34" charset="0"/>
                <a:ea typeface="Cambria" pitchFamily="34" charset="-122"/>
                <a:cs typeface="Cambria" pitchFamily="34" charset="-120"/>
              </a:rPr>
              <a:t>Grounded answer + sources</a:t>
            </a:r>
            <a:endParaRPr lang="en-US" sz="1500" dirty="0"/>
          </a:p>
        </p:txBody>
      </p:sp>
      <p:sp>
        <p:nvSpPr>
          <p:cNvPr id="15" name="Shape 13"/>
          <p:cNvSpPr/>
          <p:nvPr/>
        </p:nvSpPr>
        <p:spPr>
          <a:xfrm>
            <a:off x="640080" y="3611880"/>
            <a:ext cx="10881360" cy="2423160"/>
          </a:xfrm>
          <a:prstGeom prst="roundRect">
            <a:avLst>
              <a:gd name="adj" fmla="val 3396"/>
            </a:avLst>
          </a:prstGeom>
          <a:solidFill>
            <a:srgbClr val="0E2A33"/>
          </a:solidFill>
          <a:ln w="12700">
            <a:solidFill>
              <a:srgbClr val="D5E0E1"/>
            </a:solidFill>
            <a:prstDash val="solid"/>
          </a:ln>
          <a:effectLst>
            <a:outerShdw sx="100000" sy="100000" kx="0" ky="0" algn="bl" rotWithShape="0" blurRad="101600" dist="38100" dir="5400000">
              <a:srgbClr val="9BB0B3">
                <a:alpha val="35000"/>
              </a:srgbClr>
            </a:outerShdw>
          </a:effectLst>
        </p:spPr>
      </p:sp>
      <p:sp>
        <p:nvSpPr>
          <p:cNvPr id="16" name="Text 14"/>
          <p:cNvSpPr txBox="1"/>
          <p:nvPr/>
        </p:nvSpPr>
        <p:spPr>
          <a:xfrm>
            <a:off x="914400" y="3794760"/>
            <a:ext cx="5486400" cy="365760"/>
          </a:xfrm>
          <a:prstGeom prst="rect">
            <a:avLst/>
          </a:prstGeom>
          <a:noFill/>
          <a:ln/>
        </p:spPr>
        <p:txBody>
          <a:bodyPr wrap="square" lIns="0" tIns="0" rIns="0" bIns="0" rtlCol="0" anchor="ctr"/>
          <a:lstStyle/>
          <a:p>
            <a:pPr indent="0" marL="0">
              <a:buNone/>
            </a:pPr>
            <a:r>
              <a:rPr lang="en-US" sz="1500" b="1" dirty="0">
                <a:solidFill>
                  <a:srgbClr val="02C39A"/>
                </a:solidFill>
                <a:latin typeface="Cambria" pitchFamily="34" charset="0"/>
                <a:ea typeface="Cambria" pitchFamily="34" charset="-122"/>
                <a:cs typeface="Cambria" pitchFamily="34" charset="-120"/>
              </a:rPr>
              <a:t>The prompt (simplified)</a:t>
            </a:r>
            <a:endParaRPr lang="en-US" sz="1500" dirty="0"/>
          </a:p>
        </p:txBody>
      </p:sp>
      <p:sp>
        <p:nvSpPr>
          <p:cNvPr id="17" name="Text 15"/>
          <p:cNvSpPr txBox="1"/>
          <p:nvPr/>
        </p:nvSpPr>
        <p:spPr>
          <a:xfrm>
            <a:off x="914400" y="4206240"/>
            <a:ext cx="10332720" cy="1645920"/>
          </a:xfrm>
          <a:prstGeom prst="rect">
            <a:avLst/>
          </a:prstGeom>
          <a:noFill/>
          <a:ln/>
        </p:spPr>
        <p:txBody>
          <a:bodyPr wrap="square" lIns="0" tIns="0" rIns="0" bIns="0" rtlCol="0" anchor="t"/>
          <a:lstStyle/>
          <a:p>
            <a:pPr indent="0" marL="0">
              <a:spcAft>
                <a:spcPts val="600"/>
              </a:spcAft>
              <a:buNone/>
            </a:pPr>
            <a:r>
              <a:rPr lang="en-US" sz="1400" dirty="0">
                <a:solidFill>
                  <a:srgbClr val="FFFFFF"/>
                </a:solidFill>
                <a:latin typeface="Courier New" pitchFamily="34" charset="0"/>
                <a:ea typeface="Courier New" pitchFamily="34" charset="-122"/>
                <a:cs typeface="Courier New" pitchFamily="34" charset="-120"/>
              </a:rPr>
              <a:t>"Use ONLY the context below. If the answer isn't there, say you don't know.</a:t>
            </a:r>
            <a:endParaRPr lang="en-US" sz="1400" dirty="0"/>
          </a:p>
          <a:p>
            <a:pPr indent="0" marL="0">
              <a:spcAft>
                <a:spcPts val="600"/>
              </a:spcAft>
              <a:buNone/>
            </a:pPr>
            <a:r>
              <a:rPr lang="en-US" sz="1400" dirty="0">
                <a:solidFill>
                  <a:srgbClr val="9FD8CF"/>
                </a:solidFill>
                <a:latin typeface="Courier New" pitchFamily="34" charset="0"/>
                <a:ea typeface="Courier New" pitchFamily="34" charset="-122"/>
                <a:cs typeface="Courier New" pitchFamily="34" charset="-120"/>
              </a:rPr>
              <a:t> Context: [Source 1] ...  [Source 2] ...  [Source 3] ...</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Question: How much does membership cost?"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2A33"/>
        </a:solidFill>
      </p:bgPr>
    </p:bg>
    <p:spTree>
      <p:nvGrpSpPr>
        <p:cNvPr id="1" name=""/>
        <p:cNvGrpSpPr/>
        <p:nvPr/>
      </p:nvGrpSpPr>
      <p:grpSpPr>
        <a:xfrm>
          <a:off x="0" y="0"/>
          <a:ext cx="0" cy="0"/>
          <a:chOff x="0" y="0"/>
          <a:chExt cx="0" cy="0"/>
        </a:xfrm>
      </p:grpSpPr>
      <p:sp>
        <p:nvSpPr>
          <p:cNvPr id="2" name="Text 0"/>
          <p:cNvSpPr txBox="1"/>
          <p:nvPr/>
        </p:nvSpPr>
        <p:spPr>
          <a:xfrm>
            <a:off x="640080" y="502920"/>
            <a:ext cx="10058400" cy="73152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Make it observable</a:t>
            </a:r>
            <a:endParaRPr lang="en-US" sz="4000" dirty="0"/>
          </a:p>
        </p:txBody>
      </p:sp>
      <p:sp>
        <p:nvSpPr>
          <p:cNvPr id="3" name="Text 1"/>
          <p:cNvSpPr txBox="1"/>
          <p:nvPr/>
        </p:nvSpPr>
        <p:spPr>
          <a:xfrm>
            <a:off x="640080" y="1280160"/>
            <a:ext cx="10972800" cy="457200"/>
          </a:xfrm>
          <a:prstGeom prst="rect">
            <a:avLst/>
          </a:prstGeom>
          <a:noFill/>
          <a:ln/>
        </p:spPr>
        <p:txBody>
          <a:bodyPr wrap="square" rtlCol="0" anchor="ctr"/>
          <a:lstStyle/>
          <a:p>
            <a:pPr indent="0" marL="0">
              <a:buNone/>
            </a:pPr>
            <a:r>
              <a:rPr lang="en-US" sz="1700" dirty="0">
                <a:solidFill>
                  <a:srgbClr val="CFE6E6"/>
                </a:solidFill>
                <a:latin typeface="Calibri" pitchFamily="34" charset="0"/>
                <a:ea typeface="Calibri" pitchFamily="34" charset="-122"/>
                <a:cs typeface="Calibri" pitchFamily="34" charset="-120"/>
              </a:rPr>
              <a:t>“How was this answer generated?” — the panel that turns RAG from magic into engineering.</a:t>
            </a:r>
            <a:endParaRPr lang="en-US" sz="1700" dirty="0"/>
          </a:p>
        </p:txBody>
      </p:sp>
      <p:sp>
        <p:nvSpPr>
          <p:cNvPr id="4" name="Shape 2"/>
          <p:cNvSpPr/>
          <p:nvPr/>
        </p:nvSpPr>
        <p:spPr>
          <a:xfrm>
            <a:off x="640080" y="2286000"/>
            <a:ext cx="5303520" cy="1463040"/>
          </a:xfrm>
          <a:prstGeom prst="roundRect">
            <a:avLst>
              <a:gd name="adj" fmla="val 5000"/>
            </a:avLst>
          </a:prstGeom>
          <a:solidFill>
            <a:srgbClr val="12333D"/>
          </a:solidFill>
          <a:ln w="12700">
            <a:solidFill>
              <a:srgbClr val="028090"/>
            </a:solidFill>
            <a:prstDash val="solid"/>
          </a:ln>
        </p:spPr>
      </p:sp>
      <p:sp>
        <p:nvSpPr>
          <p:cNvPr id="5" name="Shape 3"/>
          <p:cNvSpPr/>
          <p:nvPr/>
        </p:nvSpPr>
        <p:spPr>
          <a:xfrm>
            <a:off x="960120" y="2743200"/>
            <a:ext cx="548640" cy="548640"/>
          </a:xfrm>
          <a:prstGeom prst="ellipse">
            <a:avLst/>
          </a:prstGeom>
          <a:solidFill>
            <a:srgbClr val="02C39A"/>
          </a:solidFill>
          <a:ln/>
        </p:spPr>
      </p:sp>
      <p:sp>
        <p:nvSpPr>
          <p:cNvPr id="6" name="Text 4"/>
          <p:cNvSpPr txBox="1"/>
          <p:nvPr/>
        </p:nvSpPr>
        <p:spPr>
          <a:xfrm>
            <a:off x="960120" y="2743200"/>
            <a:ext cx="548640" cy="548640"/>
          </a:xfrm>
          <a:prstGeom prst="rect">
            <a:avLst/>
          </a:prstGeom>
          <a:noFill/>
          <a:ln/>
        </p:spPr>
        <p:txBody>
          <a:bodyPr wrap="square" lIns="0" tIns="0" rIns="0" bIns="0" rtlCol="0" anchor="ctr"/>
          <a:lstStyle/>
          <a:p>
            <a:pPr algn="ctr" indent="0" marL="0">
              <a:buNone/>
            </a:pPr>
            <a:r>
              <a:rPr lang="en-US" sz="1600" b="1" dirty="0">
                <a:solidFill>
                  <a:srgbClr val="0E2A33"/>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645920" y="2542032"/>
            <a:ext cx="402336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Retrieved chunks</a:t>
            </a:r>
            <a:endParaRPr lang="en-US" sz="1800" dirty="0"/>
          </a:p>
        </p:txBody>
      </p:sp>
      <p:sp>
        <p:nvSpPr>
          <p:cNvPr id="8" name="Text 6"/>
          <p:cNvSpPr txBox="1"/>
          <p:nvPr/>
        </p:nvSpPr>
        <p:spPr>
          <a:xfrm>
            <a:off x="1645920" y="3035808"/>
            <a:ext cx="4114800" cy="548640"/>
          </a:xfrm>
          <a:prstGeom prst="rect">
            <a:avLst/>
          </a:prstGeom>
          <a:noFill/>
          <a:ln/>
        </p:spPr>
        <p:txBody>
          <a:bodyPr wrap="square" lIns="0" tIns="0" rIns="0" bIns="0" rtlCol="0" anchor="ctr"/>
          <a:lstStyle/>
          <a:p>
            <a:pPr indent="0" marL="0">
              <a:buNone/>
            </a:pPr>
            <a:r>
              <a:rPr lang="en-US" sz="1400" dirty="0">
                <a:solidFill>
                  <a:srgbClr val="AECFD0"/>
                </a:solidFill>
                <a:latin typeface="Calibri" pitchFamily="34" charset="0"/>
                <a:ea typeface="Calibri" pitchFamily="34" charset="-122"/>
                <a:cs typeface="Calibri" pitchFamily="34" charset="-120"/>
              </a:rPr>
              <a:t>the exact text used as sources</a:t>
            </a:r>
            <a:endParaRPr lang="en-US" sz="1400" dirty="0"/>
          </a:p>
        </p:txBody>
      </p:sp>
      <p:sp>
        <p:nvSpPr>
          <p:cNvPr id="9" name="Shape 7"/>
          <p:cNvSpPr/>
          <p:nvPr/>
        </p:nvSpPr>
        <p:spPr>
          <a:xfrm>
            <a:off x="6217920" y="2286000"/>
            <a:ext cx="5303520" cy="1463040"/>
          </a:xfrm>
          <a:prstGeom prst="roundRect">
            <a:avLst>
              <a:gd name="adj" fmla="val 5000"/>
            </a:avLst>
          </a:prstGeom>
          <a:solidFill>
            <a:srgbClr val="12333D"/>
          </a:solidFill>
          <a:ln w="12700">
            <a:solidFill>
              <a:srgbClr val="028090"/>
            </a:solidFill>
            <a:prstDash val="solid"/>
          </a:ln>
        </p:spPr>
      </p:sp>
      <p:sp>
        <p:nvSpPr>
          <p:cNvPr id="10" name="Shape 8"/>
          <p:cNvSpPr/>
          <p:nvPr/>
        </p:nvSpPr>
        <p:spPr>
          <a:xfrm>
            <a:off x="6537960" y="2743200"/>
            <a:ext cx="548640" cy="548640"/>
          </a:xfrm>
          <a:prstGeom prst="ellipse">
            <a:avLst/>
          </a:prstGeom>
          <a:solidFill>
            <a:srgbClr val="02C39A"/>
          </a:solidFill>
          <a:ln/>
        </p:spPr>
      </p:sp>
      <p:sp>
        <p:nvSpPr>
          <p:cNvPr id="11" name="Text 9"/>
          <p:cNvSpPr txBox="1"/>
          <p:nvPr/>
        </p:nvSpPr>
        <p:spPr>
          <a:xfrm>
            <a:off x="6537960" y="2743200"/>
            <a:ext cx="548640" cy="548640"/>
          </a:xfrm>
          <a:prstGeom prst="rect">
            <a:avLst/>
          </a:prstGeom>
          <a:noFill/>
          <a:ln/>
        </p:spPr>
        <p:txBody>
          <a:bodyPr wrap="square" lIns="0" tIns="0" rIns="0" bIns="0" rtlCol="0" anchor="ctr"/>
          <a:lstStyle/>
          <a:p>
            <a:pPr algn="ctr" indent="0" marL="0">
              <a:buNone/>
            </a:pPr>
            <a:r>
              <a:rPr lang="en-US" sz="1600" b="1" dirty="0">
                <a:solidFill>
                  <a:srgbClr val="0E2A33"/>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7223760" y="2542032"/>
            <a:ext cx="402336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Similarity score</a:t>
            </a:r>
            <a:endParaRPr lang="en-US" sz="1800" dirty="0"/>
          </a:p>
        </p:txBody>
      </p:sp>
      <p:sp>
        <p:nvSpPr>
          <p:cNvPr id="13" name="Text 11"/>
          <p:cNvSpPr txBox="1"/>
          <p:nvPr/>
        </p:nvSpPr>
        <p:spPr>
          <a:xfrm>
            <a:off x="7223760" y="3035808"/>
            <a:ext cx="4114800" cy="548640"/>
          </a:xfrm>
          <a:prstGeom prst="rect">
            <a:avLst/>
          </a:prstGeom>
          <a:noFill/>
          <a:ln/>
        </p:spPr>
        <p:txBody>
          <a:bodyPr wrap="square" lIns="0" tIns="0" rIns="0" bIns="0" rtlCol="0" anchor="ctr"/>
          <a:lstStyle/>
          <a:p>
            <a:pPr indent="0" marL="0">
              <a:buNone/>
            </a:pPr>
            <a:r>
              <a:rPr lang="en-US" sz="1400" dirty="0">
                <a:solidFill>
                  <a:srgbClr val="AECFD0"/>
                </a:solidFill>
                <a:latin typeface="Calibri" pitchFamily="34" charset="0"/>
                <a:ea typeface="Calibri" pitchFamily="34" charset="-122"/>
                <a:cs typeface="Calibri" pitchFamily="34" charset="-120"/>
              </a:rPr>
              <a:t>how close each chunk was, 0–1</a:t>
            </a:r>
            <a:endParaRPr lang="en-US" sz="1400" dirty="0"/>
          </a:p>
        </p:txBody>
      </p:sp>
      <p:sp>
        <p:nvSpPr>
          <p:cNvPr id="14" name="Shape 12"/>
          <p:cNvSpPr/>
          <p:nvPr/>
        </p:nvSpPr>
        <p:spPr>
          <a:xfrm>
            <a:off x="640080" y="4023360"/>
            <a:ext cx="5303520" cy="1463040"/>
          </a:xfrm>
          <a:prstGeom prst="roundRect">
            <a:avLst>
              <a:gd name="adj" fmla="val 5000"/>
            </a:avLst>
          </a:prstGeom>
          <a:solidFill>
            <a:srgbClr val="12333D"/>
          </a:solidFill>
          <a:ln w="12700">
            <a:solidFill>
              <a:srgbClr val="028090"/>
            </a:solidFill>
            <a:prstDash val="solid"/>
          </a:ln>
        </p:spPr>
      </p:sp>
      <p:sp>
        <p:nvSpPr>
          <p:cNvPr id="15" name="Shape 13"/>
          <p:cNvSpPr/>
          <p:nvPr/>
        </p:nvSpPr>
        <p:spPr>
          <a:xfrm>
            <a:off x="960120" y="4480560"/>
            <a:ext cx="548640" cy="548640"/>
          </a:xfrm>
          <a:prstGeom prst="ellipse">
            <a:avLst/>
          </a:prstGeom>
          <a:solidFill>
            <a:srgbClr val="02C39A"/>
          </a:solidFill>
          <a:ln/>
        </p:spPr>
      </p:sp>
      <p:sp>
        <p:nvSpPr>
          <p:cNvPr id="16" name="Text 14"/>
          <p:cNvSpPr txBox="1"/>
          <p:nvPr/>
        </p:nvSpPr>
        <p:spPr>
          <a:xfrm>
            <a:off x="960120" y="4480560"/>
            <a:ext cx="548640" cy="548640"/>
          </a:xfrm>
          <a:prstGeom prst="rect">
            <a:avLst/>
          </a:prstGeom>
          <a:noFill/>
          <a:ln/>
        </p:spPr>
        <p:txBody>
          <a:bodyPr wrap="square" lIns="0" tIns="0" rIns="0" bIns="0" rtlCol="0" anchor="ctr"/>
          <a:lstStyle/>
          <a:p>
            <a:pPr algn="ctr" indent="0" marL="0">
              <a:buNone/>
            </a:pPr>
            <a:r>
              <a:rPr lang="en-US" sz="1600" b="1" dirty="0">
                <a:solidFill>
                  <a:srgbClr val="0E2A33"/>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645920" y="4279392"/>
            <a:ext cx="402336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Retrieval time</a:t>
            </a:r>
            <a:endParaRPr lang="en-US" sz="1800" dirty="0"/>
          </a:p>
        </p:txBody>
      </p:sp>
      <p:sp>
        <p:nvSpPr>
          <p:cNvPr id="18" name="Text 16"/>
          <p:cNvSpPr txBox="1"/>
          <p:nvPr/>
        </p:nvSpPr>
        <p:spPr>
          <a:xfrm>
            <a:off x="1645920" y="4773168"/>
            <a:ext cx="4114800" cy="548640"/>
          </a:xfrm>
          <a:prstGeom prst="rect">
            <a:avLst/>
          </a:prstGeom>
          <a:noFill/>
          <a:ln/>
        </p:spPr>
        <p:txBody>
          <a:bodyPr wrap="square" lIns="0" tIns="0" rIns="0" bIns="0" rtlCol="0" anchor="ctr"/>
          <a:lstStyle/>
          <a:p>
            <a:pPr indent="0" marL="0">
              <a:buNone/>
            </a:pPr>
            <a:r>
              <a:rPr lang="en-US" sz="1400" dirty="0">
                <a:solidFill>
                  <a:srgbClr val="AECFD0"/>
                </a:solidFill>
                <a:latin typeface="Calibri" pitchFamily="34" charset="0"/>
                <a:ea typeface="Calibri" pitchFamily="34" charset="-122"/>
                <a:cs typeface="Calibri" pitchFamily="34" charset="-120"/>
              </a:rPr>
              <a:t>milliseconds to search</a:t>
            </a:r>
            <a:endParaRPr lang="en-US" sz="1400" dirty="0"/>
          </a:p>
        </p:txBody>
      </p:sp>
      <p:sp>
        <p:nvSpPr>
          <p:cNvPr id="19" name="Shape 17"/>
          <p:cNvSpPr/>
          <p:nvPr/>
        </p:nvSpPr>
        <p:spPr>
          <a:xfrm>
            <a:off x="6217920" y="4023360"/>
            <a:ext cx="5303520" cy="1463040"/>
          </a:xfrm>
          <a:prstGeom prst="roundRect">
            <a:avLst>
              <a:gd name="adj" fmla="val 5000"/>
            </a:avLst>
          </a:prstGeom>
          <a:solidFill>
            <a:srgbClr val="12333D"/>
          </a:solidFill>
          <a:ln w="12700">
            <a:solidFill>
              <a:srgbClr val="028090"/>
            </a:solidFill>
            <a:prstDash val="solid"/>
          </a:ln>
        </p:spPr>
      </p:sp>
      <p:sp>
        <p:nvSpPr>
          <p:cNvPr id="20" name="Shape 18"/>
          <p:cNvSpPr/>
          <p:nvPr/>
        </p:nvSpPr>
        <p:spPr>
          <a:xfrm>
            <a:off x="6537960" y="4480560"/>
            <a:ext cx="548640" cy="548640"/>
          </a:xfrm>
          <a:prstGeom prst="ellipse">
            <a:avLst/>
          </a:prstGeom>
          <a:solidFill>
            <a:srgbClr val="02C39A"/>
          </a:solidFill>
          <a:ln/>
        </p:spPr>
      </p:sp>
      <p:sp>
        <p:nvSpPr>
          <p:cNvPr id="21" name="Text 19"/>
          <p:cNvSpPr txBox="1"/>
          <p:nvPr/>
        </p:nvSpPr>
        <p:spPr>
          <a:xfrm>
            <a:off x="6537960" y="4480560"/>
            <a:ext cx="548640" cy="548640"/>
          </a:xfrm>
          <a:prstGeom prst="rect">
            <a:avLst/>
          </a:prstGeom>
          <a:noFill/>
          <a:ln/>
        </p:spPr>
        <p:txBody>
          <a:bodyPr wrap="square" lIns="0" tIns="0" rIns="0" bIns="0" rtlCol="0" anchor="ctr"/>
          <a:lstStyle/>
          <a:p>
            <a:pPr algn="ctr" indent="0" marL="0">
              <a:buNone/>
            </a:pPr>
            <a:r>
              <a:rPr lang="en-US" sz="1600" b="1" dirty="0">
                <a:solidFill>
                  <a:srgbClr val="0E2A33"/>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7223760" y="4279392"/>
            <a:ext cx="402336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Generation time</a:t>
            </a:r>
            <a:endParaRPr lang="en-US" sz="1800" dirty="0"/>
          </a:p>
        </p:txBody>
      </p:sp>
      <p:sp>
        <p:nvSpPr>
          <p:cNvPr id="23" name="Text 21"/>
          <p:cNvSpPr txBox="1"/>
          <p:nvPr/>
        </p:nvSpPr>
        <p:spPr>
          <a:xfrm>
            <a:off x="7223760" y="4773168"/>
            <a:ext cx="4114800" cy="548640"/>
          </a:xfrm>
          <a:prstGeom prst="rect">
            <a:avLst/>
          </a:prstGeom>
          <a:noFill/>
          <a:ln/>
        </p:spPr>
        <p:txBody>
          <a:bodyPr wrap="square" lIns="0" tIns="0" rIns="0" bIns="0" rtlCol="0" anchor="ctr"/>
          <a:lstStyle/>
          <a:p>
            <a:pPr indent="0" marL="0">
              <a:buNone/>
            </a:pPr>
            <a:r>
              <a:rPr lang="en-US" sz="1400" dirty="0">
                <a:solidFill>
                  <a:srgbClr val="AECFD0"/>
                </a:solidFill>
                <a:latin typeface="Calibri" pitchFamily="34" charset="0"/>
                <a:ea typeface="Calibri" pitchFamily="34" charset="-122"/>
                <a:cs typeface="Calibri" pitchFamily="34" charset="-120"/>
              </a:rPr>
              <a:t>milliseconds in the LLM</a:t>
            </a:r>
            <a:endParaRPr lang="en-US" sz="1400" dirty="0"/>
          </a:p>
        </p:txBody>
      </p:sp>
      <p:sp>
        <p:nvSpPr>
          <p:cNvPr id="24" name="Text 22"/>
          <p:cNvSpPr txBox="1"/>
          <p:nvPr/>
        </p:nvSpPr>
        <p:spPr>
          <a:xfrm>
            <a:off x="640080" y="5943600"/>
            <a:ext cx="10972800" cy="365760"/>
          </a:xfrm>
          <a:prstGeom prst="rect">
            <a:avLst/>
          </a:prstGeom>
          <a:noFill/>
          <a:ln/>
        </p:spPr>
        <p:txBody>
          <a:bodyPr wrap="square" rtlCol="0" anchor="ctr"/>
          <a:lstStyle/>
          <a:p>
            <a:pPr algn="ctr" indent="0" marL="0">
              <a:buNone/>
            </a:pPr>
            <a:r>
              <a:rPr lang="en-US" sz="1500" i="1" dirty="0">
                <a:solidFill>
                  <a:srgbClr val="02C39A"/>
                </a:solidFill>
                <a:latin typeface="Calibri" pitchFamily="34" charset="0"/>
                <a:ea typeface="Calibri" pitchFamily="34" charset="-122"/>
                <a:cs typeface="Calibri" pitchFamily="34" charset="-120"/>
              </a:rPr>
              <a:t>If you can see why an answer was retrieved, you can fix it when it's wrong.</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640080" y="457200"/>
            <a:ext cx="10972800" cy="731520"/>
          </a:xfrm>
          <a:prstGeom prst="rect">
            <a:avLst/>
          </a:prstGeom>
          <a:noFill/>
          <a:ln/>
        </p:spPr>
        <p:txBody>
          <a:bodyPr wrap="square" rtlCol="0" anchor="ctr"/>
          <a:lstStyle/>
          <a:p>
            <a:pPr indent="0" marL="0">
              <a:buNone/>
            </a:pPr>
            <a:r>
              <a:rPr lang="en-US" sz="3600" b="1" dirty="0">
                <a:solidFill>
                  <a:srgbClr val="0E2A33"/>
                </a:solidFill>
                <a:latin typeface="Cambria" pitchFamily="34" charset="0"/>
                <a:ea typeface="Cambria" pitchFamily="34" charset="-122"/>
                <a:cs typeface="Cambria" pitchFamily="34" charset="-120"/>
              </a:rPr>
              <a:t>Ship it: GitHub → Streamlit Cloud</a:t>
            </a:r>
            <a:endParaRPr lang="en-US" sz="3600" dirty="0"/>
          </a:p>
        </p:txBody>
      </p:sp>
      <p:sp>
        <p:nvSpPr>
          <p:cNvPr id="3" name="Text 1"/>
          <p:cNvSpPr txBox="1"/>
          <p:nvPr/>
        </p:nvSpPr>
        <p:spPr>
          <a:xfrm>
            <a:off x="640080" y="1234440"/>
            <a:ext cx="10058400" cy="457200"/>
          </a:xfrm>
          <a:prstGeom prst="rect">
            <a:avLst/>
          </a:prstGeom>
          <a:noFill/>
          <a:ln/>
        </p:spPr>
        <p:txBody>
          <a:bodyPr wrap="square" rtlCol="0" anchor="ctr"/>
          <a:lstStyle/>
          <a:p>
            <a:pPr indent="0" marL="0">
              <a:buNone/>
            </a:pPr>
            <a:r>
              <a:rPr lang="en-US" sz="1700" dirty="0">
                <a:solidFill>
                  <a:srgbClr val="5E6F73"/>
                </a:solidFill>
                <a:latin typeface="Calibri" pitchFamily="34" charset="0"/>
                <a:ea typeface="Calibri" pitchFamily="34" charset="-122"/>
                <a:cs typeface="Calibri" pitchFamily="34" charset="-120"/>
              </a:rPr>
              <a:t>Browser only. No terminal, no server to manage.</a:t>
            </a:r>
            <a:endParaRPr lang="en-US" sz="1700" dirty="0"/>
          </a:p>
        </p:txBody>
      </p:sp>
      <p:sp>
        <p:nvSpPr>
          <p:cNvPr id="4" name="Shape 2"/>
          <p:cNvSpPr/>
          <p:nvPr/>
        </p:nvSpPr>
        <p:spPr>
          <a:xfrm>
            <a:off x="731520" y="1920240"/>
            <a:ext cx="603504" cy="603504"/>
          </a:xfrm>
          <a:prstGeom prst="ellipse">
            <a:avLst/>
          </a:prstGeom>
          <a:solidFill>
            <a:srgbClr val="028090"/>
          </a:solidFill>
          <a:ln/>
        </p:spPr>
      </p:sp>
      <p:sp>
        <p:nvSpPr>
          <p:cNvPr id="5" name="Text 3"/>
          <p:cNvSpPr txBox="1"/>
          <p:nvPr/>
        </p:nvSpPr>
        <p:spPr>
          <a:xfrm>
            <a:off x="731520" y="1920240"/>
            <a:ext cx="60350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554480" y="1920240"/>
            <a:ext cx="9784080" cy="603504"/>
          </a:xfrm>
          <a:prstGeom prst="rect">
            <a:avLst/>
          </a:prstGeom>
          <a:noFill/>
          <a:ln/>
        </p:spPr>
        <p:txBody>
          <a:bodyPr wrap="square" lIns="0" tIns="0" rIns="0" bIns="0" rtlCol="0" anchor="ctr"/>
          <a:lstStyle/>
          <a:p>
            <a:pPr indent="0" marL="0">
              <a:buNone/>
            </a:pPr>
            <a:r>
              <a:rPr lang="en-US" sz="1600" b="1" dirty="0">
                <a:solidFill>
                  <a:srgbClr val="0E2A33"/>
                </a:solidFill>
                <a:latin typeface="Calibri" pitchFamily="34" charset="0"/>
                <a:ea typeface="Calibri" pitchFamily="34" charset="-122"/>
                <a:cs typeface="Calibri" pitchFamily="34" charset="-120"/>
              </a:rPr>
              <a:t>Use this template  </a:t>
            </a:r>
            <a:pPr indent="0" marL="0">
              <a:buNone/>
            </a:pPr>
            <a:r>
              <a:rPr lang="en-US" sz="1600" dirty="0">
                <a:solidFill>
                  <a:srgbClr val="5E6F73"/>
                </a:solidFill>
                <a:latin typeface="Calibri" pitchFamily="34" charset="0"/>
                <a:ea typeface="Calibri" pitchFamily="34" charset="-122"/>
                <a:cs typeface="Calibri" pitchFamily="34" charset="-120"/>
              </a:rPr>
              <a:t>— Get your own copy of the repo in one click</a:t>
            </a:r>
            <a:endParaRPr lang="en-US" sz="1600" dirty="0"/>
          </a:p>
        </p:txBody>
      </p:sp>
      <p:sp>
        <p:nvSpPr>
          <p:cNvPr id="7" name="Shape 5"/>
          <p:cNvSpPr/>
          <p:nvPr/>
        </p:nvSpPr>
        <p:spPr>
          <a:xfrm>
            <a:off x="731520" y="2788920"/>
            <a:ext cx="603504" cy="603504"/>
          </a:xfrm>
          <a:prstGeom prst="ellipse">
            <a:avLst/>
          </a:prstGeom>
          <a:solidFill>
            <a:srgbClr val="028090"/>
          </a:solidFill>
          <a:ln/>
        </p:spPr>
      </p:sp>
      <p:sp>
        <p:nvSpPr>
          <p:cNvPr id="8" name="Text 6"/>
          <p:cNvSpPr txBox="1"/>
          <p:nvPr/>
        </p:nvSpPr>
        <p:spPr>
          <a:xfrm>
            <a:off x="731520" y="2788920"/>
            <a:ext cx="60350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1554480" y="2788920"/>
            <a:ext cx="9784080" cy="603504"/>
          </a:xfrm>
          <a:prstGeom prst="rect">
            <a:avLst/>
          </a:prstGeom>
          <a:noFill/>
          <a:ln/>
        </p:spPr>
        <p:txBody>
          <a:bodyPr wrap="square" lIns="0" tIns="0" rIns="0" bIns="0" rtlCol="0" anchor="ctr"/>
          <a:lstStyle/>
          <a:p>
            <a:pPr indent="0" marL="0">
              <a:buNone/>
            </a:pPr>
            <a:r>
              <a:rPr lang="en-US" sz="1600" b="1" dirty="0">
                <a:solidFill>
                  <a:srgbClr val="0E2A33"/>
                </a:solidFill>
                <a:latin typeface="Calibri" pitchFamily="34" charset="0"/>
                <a:ea typeface="Calibri" pitchFamily="34" charset="-122"/>
                <a:cs typeface="Calibri" pitchFamily="34" charset="-120"/>
              </a:rPr>
              <a:t>share.streamlit.io → New app  </a:t>
            </a:r>
            <a:pPr indent="0" marL="0">
              <a:buNone/>
            </a:pPr>
            <a:r>
              <a:rPr lang="en-US" sz="1600" dirty="0">
                <a:solidFill>
                  <a:srgbClr val="5E6F73"/>
                </a:solidFill>
                <a:latin typeface="Calibri" pitchFamily="34" charset="0"/>
                <a:ea typeface="Calibri" pitchFamily="34" charset="-122"/>
                <a:cs typeface="Calibri" pitchFamily="34" charset="-120"/>
              </a:rPr>
              <a:t>— Point it at your repo</a:t>
            </a:r>
            <a:endParaRPr lang="en-US" sz="1600" dirty="0"/>
          </a:p>
        </p:txBody>
      </p:sp>
      <p:sp>
        <p:nvSpPr>
          <p:cNvPr id="10" name="Shape 8"/>
          <p:cNvSpPr/>
          <p:nvPr/>
        </p:nvSpPr>
        <p:spPr>
          <a:xfrm>
            <a:off x="731520" y="3657600"/>
            <a:ext cx="603504" cy="603504"/>
          </a:xfrm>
          <a:prstGeom prst="ellipse">
            <a:avLst/>
          </a:prstGeom>
          <a:solidFill>
            <a:srgbClr val="028090"/>
          </a:solidFill>
          <a:ln/>
        </p:spPr>
      </p:sp>
      <p:sp>
        <p:nvSpPr>
          <p:cNvPr id="11" name="Text 9"/>
          <p:cNvSpPr txBox="1"/>
          <p:nvPr/>
        </p:nvSpPr>
        <p:spPr>
          <a:xfrm>
            <a:off x="731520" y="3657600"/>
            <a:ext cx="60350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2" name="Text 10"/>
          <p:cNvSpPr txBox="1"/>
          <p:nvPr/>
        </p:nvSpPr>
        <p:spPr>
          <a:xfrm>
            <a:off x="1554480" y="3657600"/>
            <a:ext cx="9784080" cy="603504"/>
          </a:xfrm>
          <a:prstGeom prst="rect">
            <a:avLst/>
          </a:prstGeom>
          <a:noFill/>
          <a:ln/>
        </p:spPr>
        <p:txBody>
          <a:bodyPr wrap="square" lIns="0" tIns="0" rIns="0" bIns="0" rtlCol="0" anchor="ctr"/>
          <a:lstStyle/>
          <a:p>
            <a:pPr indent="0" marL="0">
              <a:buNone/>
            </a:pPr>
            <a:r>
              <a:rPr lang="en-US" sz="1600" b="1" dirty="0">
                <a:solidFill>
                  <a:srgbClr val="0E2A33"/>
                </a:solidFill>
                <a:latin typeface="Calibri" pitchFamily="34" charset="0"/>
                <a:ea typeface="Calibri" pitchFamily="34" charset="-122"/>
                <a:cs typeface="Calibri" pitchFamily="34" charset="-120"/>
              </a:rPr>
              <a:t>Main file: workshop/app.py  </a:t>
            </a:r>
            <a:pPr indent="0" marL="0">
              <a:buNone/>
            </a:pPr>
            <a:r>
              <a:rPr lang="en-US" sz="1600" dirty="0">
                <a:solidFill>
                  <a:srgbClr val="5E6F73"/>
                </a:solidFill>
                <a:latin typeface="Calibri" pitchFamily="34" charset="0"/>
                <a:ea typeface="Calibri" pitchFamily="34" charset="-122"/>
                <a:cs typeface="Calibri" pitchFamily="34" charset="-120"/>
              </a:rPr>
              <a:t>— Tell it what to run</a:t>
            </a:r>
            <a:endParaRPr lang="en-US" sz="1600" dirty="0"/>
          </a:p>
        </p:txBody>
      </p:sp>
      <p:sp>
        <p:nvSpPr>
          <p:cNvPr id="13" name="Shape 11"/>
          <p:cNvSpPr/>
          <p:nvPr/>
        </p:nvSpPr>
        <p:spPr>
          <a:xfrm>
            <a:off x="731520" y="4526280"/>
            <a:ext cx="603504" cy="603504"/>
          </a:xfrm>
          <a:prstGeom prst="ellipse">
            <a:avLst/>
          </a:prstGeom>
          <a:solidFill>
            <a:srgbClr val="028090"/>
          </a:solidFill>
          <a:ln/>
        </p:spPr>
      </p:sp>
      <p:sp>
        <p:nvSpPr>
          <p:cNvPr id="14" name="Text 12"/>
          <p:cNvSpPr txBox="1"/>
          <p:nvPr/>
        </p:nvSpPr>
        <p:spPr>
          <a:xfrm>
            <a:off x="731520" y="4526280"/>
            <a:ext cx="60350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5" name="Text 13"/>
          <p:cNvSpPr txBox="1"/>
          <p:nvPr/>
        </p:nvSpPr>
        <p:spPr>
          <a:xfrm>
            <a:off x="1554480" y="4526280"/>
            <a:ext cx="9784080" cy="603504"/>
          </a:xfrm>
          <a:prstGeom prst="rect">
            <a:avLst/>
          </a:prstGeom>
          <a:noFill/>
          <a:ln/>
        </p:spPr>
        <p:txBody>
          <a:bodyPr wrap="square" lIns="0" tIns="0" rIns="0" bIns="0" rtlCol="0" anchor="ctr"/>
          <a:lstStyle/>
          <a:p>
            <a:pPr indent="0" marL="0">
              <a:buNone/>
            </a:pPr>
            <a:r>
              <a:rPr lang="en-US" sz="1600" b="1" dirty="0">
                <a:solidFill>
                  <a:srgbClr val="0E2A33"/>
                </a:solidFill>
                <a:latin typeface="Calibri" pitchFamily="34" charset="0"/>
                <a:ea typeface="Calibri" pitchFamily="34" charset="-122"/>
                <a:cs typeface="Calibri" pitchFamily="34" charset="-120"/>
              </a:rPr>
              <a:t>Add GEMINI_API_KEY secret  </a:t>
            </a:r>
            <a:pPr indent="0" marL="0">
              <a:buNone/>
            </a:pPr>
            <a:r>
              <a:rPr lang="en-US" sz="1600" dirty="0">
                <a:solidFill>
                  <a:srgbClr val="5E6F73"/>
                </a:solidFill>
                <a:latin typeface="Calibri" pitchFamily="34" charset="0"/>
                <a:ea typeface="Calibri" pitchFamily="34" charset="-122"/>
                <a:cs typeface="Calibri" pitchFamily="34" charset="-120"/>
              </a:rPr>
              <a:t>— Paste your free key under Advanced → Secrets</a:t>
            </a:r>
            <a:endParaRPr lang="en-US" sz="1600" dirty="0"/>
          </a:p>
        </p:txBody>
      </p:sp>
      <p:sp>
        <p:nvSpPr>
          <p:cNvPr id="16" name="Shape 14"/>
          <p:cNvSpPr/>
          <p:nvPr/>
        </p:nvSpPr>
        <p:spPr>
          <a:xfrm>
            <a:off x="731520" y="5394960"/>
            <a:ext cx="603504" cy="603504"/>
          </a:xfrm>
          <a:prstGeom prst="ellipse">
            <a:avLst/>
          </a:prstGeom>
          <a:solidFill>
            <a:srgbClr val="028090"/>
          </a:solidFill>
          <a:ln/>
        </p:spPr>
      </p:sp>
      <p:sp>
        <p:nvSpPr>
          <p:cNvPr id="17" name="Text 15"/>
          <p:cNvSpPr txBox="1"/>
          <p:nvPr/>
        </p:nvSpPr>
        <p:spPr>
          <a:xfrm>
            <a:off x="731520" y="5394960"/>
            <a:ext cx="60350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18" name="Text 16"/>
          <p:cNvSpPr txBox="1"/>
          <p:nvPr/>
        </p:nvSpPr>
        <p:spPr>
          <a:xfrm>
            <a:off x="1554480" y="5394960"/>
            <a:ext cx="9784080" cy="603504"/>
          </a:xfrm>
          <a:prstGeom prst="rect">
            <a:avLst/>
          </a:prstGeom>
          <a:noFill/>
          <a:ln/>
        </p:spPr>
        <p:txBody>
          <a:bodyPr wrap="square" lIns="0" tIns="0" rIns="0" bIns="0" rtlCol="0" anchor="ctr"/>
          <a:lstStyle/>
          <a:p>
            <a:pPr indent="0" marL="0">
              <a:buNone/>
            </a:pPr>
            <a:r>
              <a:rPr lang="en-US" sz="1600" b="1" dirty="0">
                <a:solidFill>
                  <a:srgbClr val="0E2A33"/>
                </a:solidFill>
                <a:latin typeface="Calibri" pitchFamily="34" charset="0"/>
                <a:ea typeface="Calibri" pitchFamily="34" charset="-122"/>
                <a:cs typeface="Calibri" pitchFamily="34" charset="-120"/>
              </a:rPr>
              <a:t>Deploy  </a:t>
            </a:r>
            <a:pPr indent="0" marL="0">
              <a:buNone/>
            </a:pPr>
            <a:r>
              <a:rPr lang="en-US" sz="1600" dirty="0">
                <a:solidFill>
                  <a:srgbClr val="5E6F73"/>
                </a:solidFill>
                <a:latin typeface="Calibri" pitchFamily="34" charset="0"/>
                <a:ea typeface="Calibri" pitchFamily="34" charset="-122"/>
                <a:cs typeface="Calibri" pitchFamily="34" charset="-120"/>
              </a:rPr>
              <a:t>— First build installs PyTorch — a few minutes is normal</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7"/>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731520"/>
          </a:xfrm>
          <a:prstGeom prst="rect">
            <a:avLst/>
          </a:prstGeom>
          <a:noFill/>
          <a:ln/>
        </p:spPr>
        <p:txBody>
          <a:bodyPr wrap="square" rtlCol="0" anchor="ctr"/>
          <a:lstStyle/>
          <a:p>
            <a:pPr indent="0" marL="0">
              <a:buNone/>
            </a:pPr>
            <a:r>
              <a:rPr lang="en-US" sz="4000" b="1" dirty="0">
                <a:solidFill>
                  <a:srgbClr val="0E2A33"/>
                </a:solidFill>
                <a:latin typeface="Cambria" pitchFamily="34" charset="0"/>
                <a:ea typeface="Cambria" pitchFamily="34" charset="-122"/>
                <a:cs typeface="Cambria" pitchFamily="34" charset="-120"/>
              </a:rPr>
              <a:t>Where to go next</a:t>
            </a:r>
            <a:endParaRPr lang="en-US" sz="4000" dirty="0"/>
          </a:p>
        </p:txBody>
      </p:sp>
      <p:sp>
        <p:nvSpPr>
          <p:cNvPr id="3" name="Text 1"/>
          <p:cNvSpPr txBox="1"/>
          <p:nvPr/>
        </p:nvSpPr>
        <p:spPr>
          <a:xfrm>
            <a:off x="640080" y="1234440"/>
            <a:ext cx="10972800" cy="457200"/>
          </a:xfrm>
          <a:prstGeom prst="rect">
            <a:avLst/>
          </a:prstGeom>
          <a:noFill/>
          <a:ln/>
        </p:spPr>
        <p:txBody>
          <a:bodyPr wrap="square" rtlCol="0" anchor="ctr"/>
          <a:lstStyle/>
          <a:p>
            <a:pPr indent="0" marL="0">
              <a:buNone/>
            </a:pPr>
            <a:r>
              <a:rPr lang="en-US" sz="1600" dirty="0">
                <a:solidFill>
                  <a:srgbClr val="5E6F73"/>
                </a:solidFill>
                <a:latin typeface="Calibri" pitchFamily="34" charset="0"/>
                <a:ea typeface="Calibri" pitchFamily="34" charset="-122"/>
                <a:cs typeface="Calibri" pitchFamily="34" charset="-120"/>
              </a:rPr>
              <a:t>What we deliberately skipped — all in the deep-dive notebook in the same repo.</a:t>
            </a:r>
            <a:endParaRPr lang="en-US" sz="1600" dirty="0"/>
          </a:p>
        </p:txBody>
      </p:sp>
      <p:sp>
        <p:nvSpPr>
          <p:cNvPr id="4" name="Shape 2"/>
          <p:cNvSpPr/>
          <p:nvPr/>
        </p:nvSpPr>
        <p:spPr>
          <a:xfrm>
            <a:off x="640080" y="2011680"/>
            <a:ext cx="5303520" cy="1188720"/>
          </a:xfrm>
          <a:prstGeom prst="roundRect">
            <a:avLst>
              <a:gd name="adj" fmla="val 6923"/>
            </a:avLst>
          </a:prstGeom>
          <a:solidFill>
            <a:srgbClr val="FFFFFF"/>
          </a:solidFill>
          <a:ln w="12700">
            <a:solidFill>
              <a:srgbClr val="D5E0E1"/>
            </a:solidFill>
            <a:prstDash val="solid"/>
          </a:ln>
          <a:effectLst>
            <a:outerShdw sx="100000" sy="100000" kx="0" ky="0" algn="bl" rotWithShape="0" blurRad="101600" dist="38100" dir="5400000">
              <a:srgbClr val="9BB0B3">
                <a:alpha val="35000"/>
              </a:srgbClr>
            </a:outerShdw>
          </a:effectLst>
        </p:spPr>
      </p:sp>
      <p:sp>
        <p:nvSpPr>
          <p:cNvPr id="5" name="Text 3"/>
          <p:cNvSpPr txBox="1"/>
          <p:nvPr/>
        </p:nvSpPr>
        <p:spPr>
          <a:xfrm>
            <a:off x="960120" y="2176272"/>
            <a:ext cx="4754880" cy="457200"/>
          </a:xfrm>
          <a:prstGeom prst="rect">
            <a:avLst/>
          </a:prstGeom>
          <a:noFill/>
          <a:ln/>
        </p:spPr>
        <p:txBody>
          <a:bodyPr wrap="square" lIns="0" tIns="0" rIns="0" bIns="0" rtlCol="0" anchor="ctr"/>
          <a:lstStyle/>
          <a:p>
            <a:pPr indent="0" marL="0">
              <a:buNone/>
            </a:pPr>
            <a:r>
              <a:rPr lang="en-US" sz="1700" b="1" dirty="0">
                <a:solidFill>
                  <a:srgbClr val="028090"/>
                </a:solidFill>
                <a:latin typeface="Cambria" pitchFamily="34" charset="0"/>
                <a:ea typeface="Cambria" pitchFamily="34" charset="-122"/>
                <a:cs typeface="Cambria" pitchFamily="34" charset="-120"/>
              </a:rPr>
              <a:t>Better retrieval</a:t>
            </a:r>
            <a:endParaRPr lang="en-US" sz="1700" dirty="0"/>
          </a:p>
        </p:txBody>
      </p:sp>
      <p:sp>
        <p:nvSpPr>
          <p:cNvPr id="6" name="Text 4"/>
          <p:cNvSpPr txBox="1"/>
          <p:nvPr/>
        </p:nvSpPr>
        <p:spPr>
          <a:xfrm>
            <a:off x="960120" y="2633472"/>
            <a:ext cx="4754880" cy="457200"/>
          </a:xfrm>
          <a:prstGeom prst="rect">
            <a:avLst/>
          </a:prstGeom>
          <a:noFill/>
          <a:ln/>
        </p:spPr>
        <p:txBody>
          <a:bodyPr wrap="square" lIns="0" tIns="0" rIns="0" bIns="0" rtlCol="0" anchor="ctr"/>
          <a:lstStyle/>
          <a:p>
            <a:pPr indent="0" marL="0">
              <a:buNone/>
            </a:pPr>
            <a:r>
              <a:rPr lang="en-US" sz="1300" dirty="0">
                <a:solidFill>
                  <a:srgbClr val="5E6F73"/>
                </a:solidFill>
                <a:latin typeface="Calibri" pitchFamily="34" charset="0"/>
                <a:ea typeface="Calibri" pitchFamily="34" charset="-122"/>
                <a:cs typeface="Calibri" pitchFamily="34" charset="-120"/>
              </a:rPr>
              <a:t>Hybrid (BM25 + dense), re-ranking with cross-encoders</a:t>
            </a:r>
            <a:endParaRPr lang="en-US" sz="1300" dirty="0"/>
          </a:p>
        </p:txBody>
      </p:sp>
      <p:sp>
        <p:nvSpPr>
          <p:cNvPr id="7" name="Shape 5"/>
          <p:cNvSpPr/>
          <p:nvPr/>
        </p:nvSpPr>
        <p:spPr>
          <a:xfrm>
            <a:off x="6217920" y="2011680"/>
            <a:ext cx="5303520" cy="1188720"/>
          </a:xfrm>
          <a:prstGeom prst="roundRect">
            <a:avLst>
              <a:gd name="adj" fmla="val 6923"/>
            </a:avLst>
          </a:prstGeom>
          <a:solidFill>
            <a:srgbClr val="FFFFFF"/>
          </a:solidFill>
          <a:ln w="12700">
            <a:solidFill>
              <a:srgbClr val="D5E0E1"/>
            </a:solidFill>
            <a:prstDash val="solid"/>
          </a:ln>
          <a:effectLst>
            <a:outerShdw sx="100000" sy="100000" kx="0" ky="0" algn="bl" rotWithShape="0" blurRad="101600" dist="38100" dir="5400000">
              <a:srgbClr val="9BB0B3">
                <a:alpha val="35000"/>
              </a:srgbClr>
            </a:outerShdw>
          </a:effectLst>
        </p:spPr>
      </p:sp>
      <p:sp>
        <p:nvSpPr>
          <p:cNvPr id="8" name="Text 6"/>
          <p:cNvSpPr txBox="1"/>
          <p:nvPr/>
        </p:nvSpPr>
        <p:spPr>
          <a:xfrm>
            <a:off x="6537960" y="2176272"/>
            <a:ext cx="4754880" cy="457200"/>
          </a:xfrm>
          <a:prstGeom prst="rect">
            <a:avLst/>
          </a:prstGeom>
          <a:noFill/>
          <a:ln/>
        </p:spPr>
        <p:txBody>
          <a:bodyPr wrap="square" lIns="0" tIns="0" rIns="0" bIns="0" rtlCol="0" anchor="ctr"/>
          <a:lstStyle/>
          <a:p>
            <a:pPr indent="0" marL="0">
              <a:buNone/>
            </a:pPr>
            <a:r>
              <a:rPr lang="en-US" sz="1700" b="1" dirty="0">
                <a:solidFill>
                  <a:srgbClr val="028090"/>
                </a:solidFill>
                <a:latin typeface="Cambria" pitchFamily="34" charset="0"/>
                <a:ea typeface="Cambria" pitchFamily="34" charset="-122"/>
                <a:cs typeface="Cambria" pitchFamily="34" charset="-120"/>
              </a:rPr>
              <a:t>Vector databases</a:t>
            </a:r>
            <a:endParaRPr lang="en-US" sz="1700" dirty="0"/>
          </a:p>
        </p:txBody>
      </p:sp>
      <p:sp>
        <p:nvSpPr>
          <p:cNvPr id="9" name="Text 7"/>
          <p:cNvSpPr txBox="1"/>
          <p:nvPr/>
        </p:nvSpPr>
        <p:spPr>
          <a:xfrm>
            <a:off x="6537960" y="2633472"/>
            <a:ext cx="4754880" cy="457200"/>
          </a:xfrm>
          <a:prstGeom prst="rect">
            <a:avLst/>
          </a:prstGeom>
          <a:noFill/>
          <a:ln/>
        </p:spPr>
        <p:txBody>
          <a:bodyPr wrap="square" lIns="0" tIns="0" rIns="0" bIns="0" rtlCol="0" anchor="ctr"/>
          <a:lstStyle/>
          <a:p>
            <a:pPr indent="0" marL="0">
              <a:buNone/>
            </a:pPr>
            <a:r>
              <a:rPr lang="en-US" sz="1300" dirty="0">
                <a:solidFill>
                  <a:srgbClr val="5E6F73"/>
                </a:solidFill>
                <a:latin typeface="Calibri" pitchFamily="34" charset="0"/>
                <a:ea typeface="Calibri" pitchFamily="34" charset="-122"/>
                <a:cs typeface="Calibri" pitchFamily="34" charset="-120"/>
              </a:rPr>
              <a:t>FAISS, Chroma, HNSW — when NumPy stops scaling</a:t>
            </a:r>
            <a:endParaRPr lang="en-US" sz="1300" dirty="0"/>
          </a:p>
        </p:txBody>
      </p:sp>
      <p:sp>
        <p:nvSpPr>
          <p:cNvPr id="10" name="Shape 8"/>
          <p:cNvSpPr/>
          <p:nvPr/>
        </p:nvSpPr>
        <p:spPr>
          <a:xfrm>
            <a:off x="640080" y="3383280"/>
            <a:ext cx="5303520" cy="1188720"/>
          </a:xfrm>
          <a:prstGeom prst="roundRect">
            <a:avLst>
              <a:gd name="adj" fmla="val 6923"/>
            </a:avLst>
          </a:prstGeom>
          <a:solidFill>
            <a:srgbClr val="FFFFFF"/>
          </a:solidFill>
          <a:ln w="12700">
            <a:solidFill>
              <a:srgbClr val="D5E0E1"/>
            </a:solidFill>
            <a:prstDash val="solid"/>
          </a:ln>
          <a:effectLst>
            <a:outerShdw sx="100000" sy="100000" kx="0" ky="0" algn="bl" rotWithShape="0" blurRad="101600" dist="38100" dir="5400000">
              <a:srgbClr val="9BB0B3">
                <a:alpha val="35000"/>
              </a:srgbClr>
            </a:outerShdw>
          </a:effectLst>
        </p:spPr>
      </p:sp>
      <p:sp>
        <p:nvSpPr>
          <p:cNvPr id="11" name="Text 9"/>
          <p:cNvSpPr txBox="1"/>
          <p:nvPr/>
        </p:nvSpPr>
        <p:spPr>
          <a:xfrm>
            <a:off x="960120" y="3547872"/>
            <a:ext cx="4754880" cy="457200"/>
          </a:xfrm>
          <a:prstGeom prst="rect">
            <a:avLst/>
          </a:prstGeom>
          <a:noFill/>
          <a:ln/>
        </p:spPr>
        <p:txBody>
          <a:bodyPr wrap="square" lIns="0" tIns="0" rIns="0" bIns="0" rtlCol="0" anchor="ctr"/>
          <a:lstStyle/>
          <a:p>
            <a:pPr indent="0" marL="0">
              <a:buNone/>
            </a:pPr>
            <a:r>
              <a:rPr lang="en-US" sz="1700" b="1" dirty="0">
                <a:solidFill>
                  <a:srgbClr val="028090"/>
                </a:solidFill>
                <a:latin typeface="Cambria" pitchFamily="34" charset="0"/>
                <a:ea typeface="Cambria" pitchFamily="34" charset="-122"/>
                <a:cs typeface="Cambria" pitchFamily="34" charset="-120"/>
              </a:rPr>
              <a:t>Evaluation</a:t>
            </a:r>
            <a:endParaRPr lang="en-US" sz="1700" dirty="0"/>
          </a:p>
        </p:txBody>
      </p:sp>
      <p:sp>
        <p:nvSpPr>
          <p:cNvPr id="12" name="Text 10"/>
          <p:cNvSpPr txBox="1"/>
          <p:nvPr/>
        </p:nvSpPr>
        <p:spPr>
          <a:xfrm>
            <a:off x="960120" y="4005072"/>
            <a:ext cx="4754880" cy="457200"/>
          </a:xfrm>
          <a:prstGeom prst="rect">
            <a:avLst/>
          </a:prstGeom>
          <a:noFill/>
          <a:ln/>
        </p:spPr>
        <p:txBody>
          <a:bodyPr wrap="square" lIns="0" tIns="0" rIns="0" bIns="0" rtlCol="0" anchor="ctr"/>
          <a:lstStyle/>
          <a:p>
            <a:pPr indent="0" marL="0">
              <a:buNone/>
            </a:pPr>
            <a:r>
              <a:rPr lang="en-US" sz="1300" dirty="0">
                <a:solidFill>
                  <a:srgbClr val="5E6F73"/>
                </a:solidFill>
                <a:latin typeface="Calibri" pitchFamily="34" charset="0"/>
                <a:ea typeface="Calibri" pitchFamily="34" charset="-122"/>
                <a:cs typeface="Calibri" pitchFamily="34" charset="-120"/>
              </a:rPr>
              <a:t>Precision@k, faithfulness, answer relevance</a:t>
            </a:r>
            <a:endParaRPr lang="en-US" sz="1300" dirty="0"/>
          </a:p>
        </p:txBody>
      </p:sp>
      <p:sp>
        <p:nvSpPr>
          <p:cNvPr id="13" name="Shape 11"/>
          <p:cNvSpPr/>
          <p:nvPr/>
        </p:nvSpPr>
        <p:spPr>
          <a:xfrm>
            <a:off x="6217920" y="3383280"/>
            <a:ext cx="5303520" cy="1188720"/>
          </a:xfrm>
          <a:prstGeom prst="roundRect">
            <a:avLst>
              <a:gd name="adj" fmla="val 6923"/>
            </a:avLst>
          </a:prstGeom>
          <a:solidFill>
            <a:srgbClr val="FFFFFF"/>
          </a:solidFill>
          <a:ln w="12700">
            <a:solidFill>
              <a:srgbClr val="D5E0E1"/>
            </a:solidFill>
            <a:prstDash val="solid"/>
          </a:ln>
          <a:effectLst>
            <a:outerShdw sx="100000" sy="100000" kx="0" ky="0" algn="bl" rotWithShape="0" blurRad="101600" dist="38100" dir="5400000">
              <a:srgbClr val="9BB0B3">
                <a:alpha val="35000"/>
              </a:srgbClr>
            </a:outerShdw>
          </a:effectLst>
        </p:spPr>
      </p:sp>
      <p:sp>
        <p:nvSpPr>
          <p:cNvPr id="14" name="Text 12"/>
          <p:cNvSpPr txBox="1"/>
          <p:nvPr/>
        </p:nvSpPr>
        <p:spPr>
          <a:xfrm>
            <a:off x="6537960" y="3547872"/>
            <a:ext cx="4754880" cy="457200"/>
          </a:xfrm>
          <a:prstGeom prst="rect">
            <a:avLst/>
          </a:prstGeom>
          <a:noFill/>
          <a:ln/>
        </p:spPr>
        <p:txBody>
          <a:bodyPr wrap="square" lIns="0" tIns="0" rIns="0" bIns="0" rtlCol="0" anchor="ctr"/>
          <a:lstStyle/>
          <a:p>
            <a:pPr indent="0" marL="0">
              <a:buNone/>
            </a:pPr>
            <a:r>
              <a:rPr lang="en-US" sz="1700" b="1" dirty="0">
                <a:solidFill>
                  <a:srgbClr val="028090"/>
                </a:solidFill>
                <a:latin typeface="Cambria" pitchFamily="34" charset="0"/>
                <a:ea typeface="Cambria" pitchFamily="34" charset="-122"/>
                <a:cs typeface="Cambria" pitchFamily="34" charset="-120"/>
              </a:rPr>
              <a:t>Guardrails</a:t>
            </a:r>
            <a:endParaRPr lang="en-US" sz="1700" dirty="0"/>
          </a:p>
        </p:txBody>
      </p:sp>
      <p:sp>
        <p:nvSpPr>
          <p:cNvPr id="15" name="Text 13"/>
          <p:cNvSpPr txBox="1"/>
          <p:nvPr/>
        </p:nvSpPr>
        <p:spPr>
          <a:xfrm>
            <a:off x="6537960" y="4005072"/>
            <a:ext cx="4754880" cy="457200"/>
          </a:xfrm>
          <a:prstGeom prst="rect">
            <a:avLst/>
          </a:prstGeom>
          <a:noFill/>
          <a:ln/>
        </p:spPr>
        <p:txBody>
          <a:bodyPr wrap="square" lIns="0" tIns="0" rIns="0" bIns="0" rtlCol="0" anchor="ctr"/>
          <a:lstStyle/>
          <a:p>
            <a:pPr indent="0" marL="0">
              <a:buNone/>
            </a:pPr>
            <a:r>
              <a:rPr lang="en-US" sz="1300" dirty="0">
                <a:solidFill>
                  <a:srgbClr val="5E6F73"/>
                </a:solidFill>
                <a:latin typeface="Calibri" pitchFamily="34" charset="0"/>
                <a:ea typeface="Calibri" pitchFamily="34" charset="-122"/>
                <a:cs typeface="Calibri" pitchFamily="34" charset="-120"/>
              </a:rPr>
              <a:t>Input/output validation, context filtering</a:t>
            </a:r>
            <a:endParaRPr lang="en-US" sz="1300" dirty="0"/>
          </a:p>
        </p:txBody>
      </p:sp>
      <p:sp>
        <p:nvSpPr>
          <p:cNvPr id="16" name="Shape 14"/>
          <p:cNvSpPr/>
          <p:nvPr/>
        </p:nvSpPr>
        <p:spPr>
          <a:xfrm>
            <a:off x="640080" y="4754880"/>
            <a:ext cx="5303520" cy="1188720"/>
          </a:xfrm>
          <a:prstGeom prst="roundRect">
            <a:avLst>
              <a:gd name="adj" fmla="val 6923"/>
            </a:avLst>
          </a:prstGeom>
          <a:solidFill>
            <a:srgbClr val="FFFFFF"/>
          </a:solidFill>
          <a:ln w="12700">
            <a:solidFill>
              <a:srgbClr val="D5E0E1"/>
            </a:solidFill>
            <a:prstDash val="solid"/>
          </a:ln>
          <a:effectLst>
            <a:outerShdw sx="100000" sy="100000" kx="0" ky="0" algn="bl" rotWithShape="0" blurRad="101600" dist="38100" dir="5400000">
              <a:srgbClr val="9BB0B3">
                <a:alpha val="35000"/>
              </a:srgbClr>
            </a:outerShdw>
          </a:effectLst>
        </p:spPr>
      </p:sp>
      <p:sp>
        <p:nvSpPr>
          <p:cNvPr id="17" name="Text 15"/>
          <p:cNvSpPr txBox="1"/>
          <p:nvPr/>
        </p:nvSpPr>
        <p:spPr>
          <a:xfrm>
            <a:off x="960120" y="4919472"/>
            <a:ext cx="4754880" cy="457200"/>
          </a:xfrm>
          <a:prstGeom prst="rect">
            <a:avLst/>
          </a:prstGeom>
          <a:noFill/>
          <a:ln/>
        </p:spPr>
        <p:txBody>
          <a:bodyPr wrap="square" lIns="0" tIns="0" rIns="0" bIns="0" rtlCol="0" anchor="ctr"/>
          <a:lstStyle/>
          <a:p>
            <a:pPr indent="0" marL="0">
              <a:buNone/>
            </a:pPr>
            <a:r>
              <a:rPr lang="en-US" sz="1700" b="1" dirty="0">
                <a:solidFill>
                  <a:srgbClr val="028090"/>
                </a:solidFill>
                <a:latin typeface="Cambria" pitchFamily="34" charset="0"/>
                <a:ea typeface="Cambria" pitchFamily="34" charset="-122"/>
                <a:cs typeface="Cambria" pitchFamily="34" charset="-120"/>
              </a:rPr>
              <a:t>Agentic RAG</a:t>
            </a:r>
            <a:endParaRPr lang="en-US" sz="1700" dirty="0"/>
          </a:p>
        </p:txBody>
      </p:sp>
      <p:sp>
        <p:nvSpPr>
          <p:cNvPr id="18" name="Text 16"/>
          <p:cNvSpPr txBox="1"/>
          <p:nvPr/>
        </p:nvSpPr>
        <p:spPr>
          <a:xfrm>
            <a:off x="960120" y="5376672"/>
            <a:ext cx="4754880" cy="457200"/>
          </a:xfrm>
          <a:prstGeom prst="rect">
            <a:avLst/>
          </a:prstGeom>
          <a:noFill/>
          <a:ln/>
        </p:spPr>
        <p:txBody>
          <a:bodyPr wrap="square" lIns="0" tIns="0" rIns="0" bIns="0" rtlCol="0" anchor="ctr"/>
          <a:lstStyle/>
          <a:p>
            <a:pPr indent="0" marL="0">
              <a:buNone/>
            </a:pPr>
            <a:r>
              <a:rPr lang="en-US" sz="1300" dirty="0">
                <a:solidFill>
                  <a:srgbClr val="5E6F73"/>
                </a:solidFill>
                <a:latin typeface="Calibri" pitchFamily="34" charset="0"/>
                <a:ea typeface="Calibri" pitchFamily="34" charset="-122"/>
                <a:cs typeface="Calibri" pitchFamily="34" charset="-120"/>
              </a:rPr>
              <a:t>Multi-step retrieval, tool use, routing</a:t>
            </a:r>
            <a:endParaRPr lang="en-US" sz="1300" dirty="0"/>
          </a:p>
        </p:txBody>
      </p:sp>
      <p:sp>
        <p:nvSpPr>
          <p:cNvPr id="19" name="Shape 17"/>
          <p:cNvSpPr/>
          <p:nvPr/>
        </p:nvSpPr>
        <p:spPr>
          <a:xfrm>
            <a:off x="6217920" y="4754880"/>
            <a:ext cx="5303520" cy="1188720"/>
          </a:xfrm>
          <a:prstGeom prst="roundRect">
            <a:avLst>
              <a:gd name="adj" fmla="val 6923"/>
            </a:avLst>
          </a:prstGeom>
          <a:solidFill>
            <a:srgbClr val="FFFFFF"/>
          </a:solidFill>
          <a:ln w="12700">
            <a:solidFill>
              <a:srgbClr val="D5E0E1"/>
            </a:solidFill>
            <a:prstDash val="solid"/>
          </a:ln>
          <a:effectLst>
            <a:outerShdw sx="100000" sy="100000" kx="0" ky="0" algn="bl" rotWithShape="0" blurRad="101600" dist="38100" dir="5400000">
              <a:srgbClr val="9BB0B3">
                <a:alpha val="35000"/>
              </a:srgbClr>
            </a:outerShdw>
          </a:effectLst>
        </p:spPr>
      </p:sp>
      <p:sp>
        <p:nvSpPr>
          <p:cNvPr id="20" name="Text 18"/>
          <p:cNvSpPr txBox="1"/>
          <p:nvPr/>
        </p:nvSpPr>
        <p:spPr>
          <a:xfrm>
            <a:off x="6537960" y="4919472"/>
            <a:ext cx="4754880" cy="457200"/>
          </a:xfrm>
          <a:prstGeom prst="rect">
            <a:avLst/>
          </a:prstGeom>
          <a:noFill/>
          <a:ln/>
        </p:spPr>
        <p:txBody>
          <a:bodyPr wrap="square" lIns="0" tIns="0" rIns="0" bIns="0" rtlCol="0" anchor="ctr"/>
          <a:lstStyle/>
          <a:p>
            <a:pPr indent="0" marL="0">
              <a:buNone/>
            </a:pPr>
            <a:r>
              <a:rPr lang="en-US" sz="1700" b="1" dirty="0">
                <a:solidFill>
                  <a:srgbClr val="028090"/>
                </a:solidFill>
                <a:latin typeface="Cambria" pitchFamily="34" charset="0"/>
                <a:ea typeface="Cambria" pitchFamily="34" charset="-122"/>
                <a:cs typeface="Cambria" pitchFamily="34" charset="-120"/>
              </a:rPr>
              <a:t>Knowledge graphs</a:t>
            </a:r>
            <a:endParaRPr lang="en-US" sz="1700" dirty="0"/>
          </a:p>
        </p:txBody>
      </p:sp>
      <p:sp>
        <p:nvSpPr>
          <p:cNvPr id="21" name="Text 19"/>
          <p:cNvSpPr txBox="1"/>
          <p:nvPr/>
        </p:nvSpPr>
        <p:spPr>
          <a:xfrm>
            <a:off x="6537960" y="5376672"/>
            <a:ext cx="4754880" cy="457200"/>
          </a:xfrm>
          <a:prstGeom prst="rect">
            <a:avLst/>
          </a:prstGeom>
          <a:noFill/>
          <a:ln/>
        </p:spPr>
        <p:txBody>
          <a:bodyPr wrap="square" lIns="0" tIns="0" rIns="0" bIns="0" rtlCol="0" anchor="ctr"/>
          <a:lstStyle/>
          <a:p>
            <a:pPr indent="0" marL="0">
              <a:buNone/>
            </a:pPr>
            <a:r>
              <a:rPr lang="en-US" sz="1300" dirty="0">
                <a:solidFill>
                  <a:srgbClr val="5E6F73"/>
                </a:solidFill>
                <a:latin typeface="Calibri" pitchFamily="34" charset="0"/>
                <a:ea typeface="Calibri" pitchFamily="34" charset="-122"/>
                <a:cs typeface="Calibri" pitchFamily="34" charset="-120"/>
              </a:rPr>
              <a:t>Structured retrieval beyond flat text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2A33"/>
        </a:solidFill>
      </p:bgPr>
    </p:bg>
    <p:spTree>
      <p:nvGrpSpPr>
        <p:cNvPr id="1" name=""/>
        <p:cNvGrpSpPr/>
        <p:nvPr/>
      </p:nvGrpSpPr>
      <p:grpSpPr>
        <a:xfrm>
          <a:off x="0" y="0"/>
          <a:ext cx="0" cy="0"/>
          <a:chOff x="0" y="0"/>
          <a:chExt cx="0" cy="0"/>
        </a:xfrm>
      </p:grpSpPr>
      <p:sp>
        <p:nvSpPr>
          <p:cNvPr id="2" name="Shape 0"/>
          <p:cNvSpPr/>
          <p:nvPr/>
        </p:nvSpPr>
        <p:spPr>
          <a:xfrm>
            <a:off x="-1371600" y="4572000"/>
            <a:ext cx="3840480" cy="3840480"/>
          </a:xfrm>
          <a:prstGeom prst="ellipse">
            <a:avLst/>
          </a:prstGeom>
          <a:solidFill>
            <a:srgbClr val="028090"/>
          </a:solidFill>
          <a:ln/>
        </p:spPr>
      </p:sp>
      <p:sp>
        <p:nvSpPr>
          <p:cNvPr id="3" name="Shape 1"/>
          <p:cNvSpPr/>
          <p:nvPr/>
        </p:nvSpPr>
        <p:spPr>
          <a:xfrm>
            <a:off x="10424160" y="-1280160"/>
            <a:ext cx="3291840" cy="3291840"/>
          </a:xfrm>
          <a:prstGeom prst="ellipse">
            <a:avLst/>
          </a:prstGeom>
          <a:solidFill>
            <a:srgbClr val="02C39A"/>
          </a:solidFill>
          <a:ln/>
        </p:spPr>
      </p:sp>
      <p:sp>
        <p:nvSpPr>
          <p:cNvPr id="4" name="Text 2"/>
          <p:cNvSpPr txBox="1"/>
          <p:nvPr/>
        </p:nvSpPr>
        <p:spPr>
          <a:xfrm>
            <a:off x="822960" y="2011680"/>
            <a:ext cx="10515600" cy="128016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 built and shipped a RAG assistant.</a:t>
            </a:r>
            <a:endParaRPr lang="en-US" sz="4000" dirty="0"/>
          </a:p>
        </p:txBody>
      </p:sp>
      <p:sp>
        <p:nvSpPr>
          <p:cNvPr id="5" name="Text 3"/>
          <p:cNvSpPr txBox="1"/>
          <p:nvPr/>
        </p:nvSpPr>
        <p:spPr>
          <a:xfrm>
            <a:off x="822960" y="3291840"/>
            <a:ext cx="10058400" cy="548640"/>
          </a:xfrm>
          <a:prstGeom prst="rect">
            <a:avLst/>
          </a:prstGeom>
          <a:noFill/>
          <a:ln/>
        </p:spPr>
        <p:txBody>
          <a:bodyPr wrap="square" rtlCol="0" anchor="ctr"/>
          <a:lstStyle/>
          <a:p>
            <a:pPr indent="0" marL="0">
              <a:buNone/>
            </a:pPr>
            <a:r>
              <a:rPr lang="en-US" sz="1800" dirty="0">
                <a:solidFill>
                  <a:srgbClr val="CFE6E6"/>
                </a:solidFill>
                <a:latin typeface="Calibri" pitchFamily="34" charset="0"/>
                <a:ea typeface="Calibri" pitchFamily="34" charset="-122"/>
                <a:cs typeface="Calibri" pitchFamily="34" charset="-120"/>
              </a:rPr>
              <a:t>Grounded answers · cited sources · visible scores &amp; latency · live on the web.</a:t>
            </a:r>
            <a:endParaRPr lang="en-US" sz="1800" dirty="0"/>
          </a:p>
        </p:txBody>
      </p:sp>
      <p:sp>
        <p:nvSpPr>
          <p:cNvPr id="6" name="Shape 4"/>
          <p:cNvSpPr/>
          <p:nvPr/>
        </p:nvSpPr>
        <p:spPr>
          <a:xfrm>
            <a:off x="822960" y="4206240"/>
            <a:ext cx="10515600" cy="1463040"/>
          </a:xfrm>
          <a:prstGeom prst="roundRect">
            <a:avLst>
              <a:gd name="adj" fmla="val 5625"/>
            </a:avLst>
          </a:prstGeom>
          <a:solidFill>
            <a:srgbClr val="12333D"/>
          </a:solidFill>
          <a:ln w="12700">
            <a:solidFill>
              <a:srgbClr val="D5E0E1"/>
            </a:solidFill>
            <a:prstDash val="solid"/>
          </a:ln>
          <a:effectLst>
            <a:outerShdw sx="100000" sy="100000" kx="0" ky="0" algn="bl" rotWithShape="0" blurRad="101600" dist="38100" dir="5400000">
              <a:srgbClr val="9BB0B3">
                <a:alpha val="35000"/>
              </a:srgbClr>
            </a:outerShdw>
          </a:effectLst>
        </p:spPr>
      </p:sp>
      <p:sp>
        <p:nvSpPr>
          <p:cNvPr id="7" name="Text 5"/>
          <p:cNvSpPr txBox="1"/>
          <p:nvPr/>
        </p:nvSpPr>
        <p:spPr>
          <a:xfrm>
            <a:off x="1097280" y="4389120"/>
            <a:ext cx="10058400" cy="1097280"/>
          </a:xfrm>
          <a:prstGeom prst="rect">
            <a:avLst/>
          </a:prstGeom>
          <a:noFill/>
          <a:ln/>
        </p:spPr>
        <p:txBody>
          <a:bodyPr wrap="square" lIns="0" tIns="0" rIns="0" bIns="0" rtlCol="0" anchor="ctr"/>
          <a:lstStyle/>
          <a:p>
            <a:pPr indent="0" marL="0">
              <a:buNone/>
            </a:pPr>
            <a:r>
              <a:rPr lang="en-US" sz="1600" b="1" dirty="0">
                <a:solidFill>
                  <a:srgbClr val="02C39A"/>
                </a:solidFill>
                <a:latin typeface="Calibri" pitchFamily="34" charset="0"/>
                <a:ea typeface="Calibri" pitchFamily="34" charset="-122"/>
                <a:cs typeface="Calibri" pitchFamily="34" charset="-120"/>
              </a:rPr>
              <a:t>Repo:  </a:t>
            </a:r>
            <a:pPr indent="0" marL="0">
              <a:buNone/>
            </a:pPr>
            <a:r>
              <a:rPr lang="en-US" sz="1600" dirty="0">
                <a:solidFill>
                  <a:srgbClr val="FFFFFF"/>
                </a:solidFill>
                <a:latin typeface="Calibri" pitchFamily="34" charset="0"/>
                <a:ea typeface="Calibri" pitchFamily="34" charset="-122"/>
                <a:cs typeface="Calibri" pitchFamily="34" charset="-120"/>
              </a:rPr>
              <a:t>github.com/ashworks1706/agents-rag-from-scratch   </a:t>
            </a:r>
            <a:pPr indent="0" marL="0">
              <a:spcAft>
                <a:spcPts val="600"/>
              </a:spcAft>
              <a:buNone/>
            </a:pPr>
            <a:r>
              <a:rPr lang="en-US" sz="1600" dirty="0">
                <a:solidFill>
                  <a:srgbClr val="9FBEBF"/>
                </a:solidFill>
                <a:latin typeface="Calibri" pitchFamily="34" charset="0"/>
                <a:ea typeface="Calibri" pitchFamily="34" charset="-122"/>
                <a:cs typeface="Calibri" pitchFamily="34" charset="-120"/>
              </a:rPr>
              <a:t>(workshop/ + deep-dive notebook)</a:t>
            </a:r>
            <a:endParaRPr lang="en-US" sz="1600" dirty="0"/>
          </a:p>
          <a:p>
            <a:pPr indent="0" marL="0">
              <a:buNone/>
            </a:pPr>
            <a:r>
              <a:rPr lang="en-US" sz="1600" b="1" dirty="0">
                <a:solidFill>
                  <a:srgbClr val="02C39A"/>
                </a:solidFill>
                <a:latin typeface="Calibri" pitchFamily="34" charset="0"/>
                <a:ea typeface="Calibri" pitchFamily="34" charset="-122"/>
                <a:cs typeface="Calibri" pitchFamily="34" charset="-120"/>
              </a:rPr>
              <a:t>Free Gemini key:  </a:t>
            </a:r>
            <a:pPr indent="0" marL="0">
              <a:buNone/>
            </a:pPr>
            <a:r>
              <a:rPr lang="en-US" sz="1600" dirty="0">
                <a:solidFill>
                  <a:srgbClr val="FFFFFF"/>
                </a:solidFill>
                <a:latin typeface="Calibri" pitchFamily="34" charset="0"/>
                <a:ea typeface="Calibri" pitchFamily="34" charset="-122"/>
                <a:cs typeface="Calibri" pitchFamily="34" charset="-120"/>
              </a:rPr>
              <a:t>aistudio.google.com/app/apikey</a:t>
            </a:r>
            <a:endParaRPr lang="en-US" sz="1600" dirty="0"/>
          </a:p>
        </p:txBody>
      </p:sp>
      <p:sp>
        <p:nvSpPr>
          <p:cNvPr id="8" name="Text 6"/>
          <p:cNvSpPr txBox="1"/>
          <p:nvPr/>
        </p:nvSpPr>
        <p:spPr>
          <a:xfrm>
            <a:off x="822960" y="5852160"/>
            <a:ext cx="5486400" cy="457200"/>
          </a:xfrm>
          <a:prstGeom prst="rect">
            <a:avLst/>
          </a:prstGeom>
          <a:noFill/>
          <a:ln/>
        </p:spPr>
        <p:txBody>
          <a:bodyPr wrap="square" rtlCol="0" anchor="ctr"/>
          <a:lstStyle/>
          <a:p>
            <a:pPr indent="0" marL="0">
              <a:buNone/>
            </a:pPr>
            <a:r>
              <a:rPr lang="en-US" sz="2200" b="1" i="1" dirty="0">
                <a:solidFill>
                  <a:srgbClr val="02C39A"/>
                </a:solidFill>
                <a:latin typeface="Cambria" pitchFamily="34" charset="0"/>
                <a:ea typeface="Cambria" pitchFamily="34" charset="-122"/>
                <a:cs typeface="Cambria" pitchFamily="34" charset="-120"/>
              </a:rPr>
              <a:t>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AI Society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RAG in Practice</dc:title>
  <dc:subject>PptxGenJS Presentation</dc:subject>
  <dc:creator>AI Society</dc:creator>
  <cp:lastModifiedBy>AI Society</cp:lastModifiedBy>
  <cp:revision>1</cp:revision>
  <dcterms:created xsi:type="dcterms:W3CDTF">2026-09-19T04:59:53Z</dcterms:created>
  <dcterms:modified xsi:type="dcterms:W3CDTF">2026-09-19T04:59:53Z</dcterms:modified>
</cp:coreProperties>
</file>